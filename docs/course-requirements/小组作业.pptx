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335" r:id="rId3"/>
    <p:sldId id="336" r:id="rId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89" y="30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0CA0E7-211F-4CC3-8F4F-C21D57B0E8C7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70C8AB-3BF1-47CC-9ACE-A4D7673D44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38F2EB-B700-4E30-A419-A1D213BEFB06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38F2EB-B700-4E30-A419-A1D213BEFB06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8330" y="102793"/>
            <a:ext cx="7504074" cy="702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EC2DC-9F7B-45F8-BAC3-B50E9901CE10}" type="datetime1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FE33-B3DC-49C9-9AFF-8E0C940F704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41320" y="102793"/>
            <a:ext cx="4871084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2740" y="1304924"/>
            <a:ext cx="11501755" cy="4422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05919" y="6482715"/>
            <a:ext cx="24384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008" y="538866"/>
            <a:ext cx="3110782" cy="626388"/>
          </a:xfrm>
          <a:prstGeom prst="rect">
            <a:avLst/>
          </a:prstGeom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78751"/>
            <a:ext cx="8800088" cy="71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4"/>
          <p:cNvSpPr txBox="1"/>
          <p:nvPr/>
        </p:nvSpPr>
        <p:spPr>
          <a:xfrm>
            <a:off x="9603080" y="2303220"/>
            <a:ext cx="1006806" cy="609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  <a:spcAft>
                <a:spcPts val="0"/>
              </a:spcAft>
            </a:pPr>
            <a:r>
              <a:rPr lang="en-US" altLang="zh-CN" sz="2000" b="1" kern="0" spc="0" baseline="0" noProof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sz="2000" b="1" kern="0" spc="-15" baseline="0" noProof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kern="0" spc="0" baseline="0" noProof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zh-CN" sz="2000" b="1" kern="0" spc="-15" baseline="0" noProof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kern="0" spc="0" baseline="0" noProof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zh-CN" sz="2000" b="1" kern="0" spc="-15" baseline="0" noProof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kern="0" spc="0" baseline="0" noProof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</a:t>
            </a: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000" b="1" kern="0" spc="0" baseline="0" noProof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altLang="zh-CN" sz="2000" b="1" kern="0" spc="-15" baseline="0" noProof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kern="0" spc="0" baseline="0" noProof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000" b="1" kern="0" spc="-15" baseline="0" noProof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kern="0" spc="0" baseline="0" noProof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zh-CN" sz="2000" b="1" kern="0" spc="-15" baseline="0" noProof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kern="0" spc="0" baseline="0" noProof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4" name="TextBox 7"/>
          <p:cNvSpPr txBox="1"/>
          <p:nvPr/>
        </p:nvSpPr>
        <p:spPr>
          <a:xfrm>
            <a:off x="1781415" y="1986915"/>
            <a:ext cx="862917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8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债券</a:t>
            </a:r>
            <a:r>
              <a:rPr lang="zh-CN" altLang="en-US" sz="5800" b="1" dirty="0" smtClean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投资</a:t>
            </a:r>
            <a:endParaRPr lang="en-US" altLang="zh-CN" sz="5800" b="1" dirty="0">
              <a:solidFill>
                <a:schemeClr val="accent2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563" y="160318"/>
            <a:ext cx="2850646" cy="574007"/>
          </a:xfrm>
          <a:prstGeom prst="rect">
            <a:avLst/>
          </a:prstGeom>
        </p:spPr>
      </p:pic>
      <p:sp>
        <p:nvSpPr>
          <p:cNvPr id="16" name="TextBox 4"/>
          <p:cNvSpPr txBox="1"/>
          <p:nvPr/>
        </p:nvSpPr>
        <p:spPr>
          <a:xfrm>
            <a:off x="2671637" y="3795780"/>
            <a:ext cx="7056784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+mn-ea"/>
                <a:ea typeface="+mn-ea"/>
                <a:cs typeface="Times New Roman" panose="02020603050405020304" pitchFamily="18" charset="0"/>
              </a:rPr>
              <a:t>主讲人：刘书婷</a:t>
            </a:r>
            <a:endParaRPr lang="en-US" altLang="zh-CN" sz="28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+mn-ea"/>
                <a:ea typeface="+mn-ea"/>
                <a:cs typeface="Times New Roman" panose="02020603050405020304" pitchFamily="18" charset="0"/>
              </a:rPr>
              <a:t>邮  箱：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liushuting@shufe.edu.cn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BFE33-B3DC-49C9-9AFF-8E0C940F704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 txBox="1"/>
          <p:nvPr/>
        </p:nvSpPr>
        <p:spPr>
          <a:xfrm>
            <a:off x="558324" y="405614"/>
            <a:ext cx="8098770" cy="504056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小组作业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j-cs"/>
            </a:endParaRPr>
          </a:p>
        </p:txBody>
      </p:sp>
      <p:sp>
        <p:nvSpPr>
          <p:cNvPr id="8" name="TextBox79"/>
          <p:cNvSpPr txBox="1"/>
          <p:nvPr/>
        </p:nvSpPr>
        <p:spPr>
          <a:xfrm>
            <a:off x="710724" y="990600"/>
            <a:ext cx="11062336" cy="59823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lvl="1" indent="-342900" algn="just"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研究</a:t>
            </a:r>
            <a:r>
              <a:rPr lang="zh-CN" altLang="en-US" sz="3200" b="1" dirty="0" smtClean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分组：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每组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人，共计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</a:t>
            </a:r>
            <a:endParaRPr lang="en-US" altLang="zh-CN" sz="32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200" b="1" dirty="0" smtClean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作业要求</a:t>
            </a:r>
          </a:p>
          <a:p>
            <a:pPr marL="971550" lvl="2" indent="-57150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要求在不同</a:t>
            </a:r>
            <a:r>
              <a:rPr lang="zh-CN" altLang="en-US" sz="2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行业</a:t>
            </a:r>
            <a:r>
              <a:rPr lang="zh-CN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en-US" sz="2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挑选</a:t>
            </a:r>
            <a:r>
              <a:rPr lang="zh-CN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出具有代表性的</a:t>
            </a:r>
            <a:r>
              <a:rPr lang="zh-CN" altLang="en-US" sz="2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可转债投资标的</a:t>
            </a:r>
            <a:r>
              <a:rPr lang="zh-CN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。每个团队需</a:t>
            </a:r>
            <a:r>
              <a:rPr lang="zh-CN" altLang="en-US" sz="2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挑选出</a:t>
            </a:r>
            <a:r>
              <a:rPr lang="en-US" altLang="zh-CN" sz="2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个推荐</a:t>
            </a:r>
            <a:r>
              <a:rPr lang="zh-CN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的可转债投资标的，并</a:t>
            </a:r>
            <a:r>
              <a:rPr lang="zh-CN" altLang="en-US" sz="2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提出</a:t>
            </a:r>
            <a:r>
              <a:rPr lang="en-US" altLang="zh-CN" sz="2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个不推荐</a:t>
            </a:r>
            <a:r>
              <a:rPr lang="zh-CN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的可转债投资标的。对于推荐和不推荐的标的，需提供充分的理由和分析依据。</a:t>
            </a:r>
            <a:endParaRPr lang="en-US" altLang="zh-CN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2" indent="-57150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团队负责人需要负责设定团队工作安排、领导集体讨论、组织头脑风暴会议、主导解决方案展示等；成员间自行分工协作，但都需参与到项目中，并明确各自的分工与贡献。</a:t>
            </a:r>
          </a:p>
          <a:p>
            <a:pPr marL="342900" marR="0" lvl="1" indent="-342900" algn="l" rtl="0" eaLnBrk="1" fontAlgn="auto" latinLnBrk="0" hangingPunct="1">
              <a:lnSpc>
                <a:spcPct val="130000"/>
              </a:lnSpc>
              <a:buClr>
                <a:srgbClr val="C0000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3200" b="1" noProof="1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作业目标</a:t>
            </a:r>
            <a:endParaRPr lang="zh-CN" altLang="en-US" sz="3200" b="1" noProof="1">
              <a:solidFill>
                <a:srgbClr val="ED7D31">
                  <a:lumMod val="75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通过本次小组作业，</a:t>
            </a:r>
            <a:r>
              <a:rPr lang="zh-CN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期望同学们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能够全面提升自身的固收研究能力，为未来的职业生涯奠定坚实基础。</a:t>
            </a:r>
            <a:endParaRPr lang="en-US" altLang="zh-CN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/>
          <p:nvPr/>
        </p:nvSpPr>
        <p:spPr>
          <a:xfrm>
            <a:off x="558324" y="405614"/>
            <a:ext cx="8098770" cy="504056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小组作业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j-cs"/>
            </a:endParaRPr>
          </a:p>
        </p:txBody>
      </p:sp>
      <p:sp>
        <p:nvSpPr>
          <p:cNvPr id="7" name="TextBox79"/>
          <p:cNvSpPr txBox="1"/>
          <p:nvPr/>
        </p:nvSpPr>
        <p:spPr>
          <a:xfrm>
            <a:off x="710724" y="1066800"/>
            <a:ext cx="11062336" cy="59216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lvl="1" indent="-34290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200" b="1" dirty="0" smtClean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作业形式及展示</a:t>
            </a:r>
            <a:endParaRPr lang="en-US" altLang="zh-CN" sz="3200" b="1" dirty="0" smtClean="0">
              <a:solidFill>
                <a:srgbClr val="ED7D31">
                  <a:lumMod val="75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2" indent="-57150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汇报展示（第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7&amp;8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周）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：各团队将在课堂上简明扼要地以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PPT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形式进行展示，每组时长为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分钟。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2" indent="-57150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分析报告撰写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：课后将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完整分析报告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发送至邮箱，以“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债券小组作业</a:t>
            </a:r>
            <a:r>
              <a:rPr lang="en-US" altLang="zh-CN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行业</a:t>
            </a:r>
            <a:r>
              <a:rPr lang="en-US" altLang="zh-CN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组长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方式命名。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2" indent="-57150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作业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评分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各同学将对本组组员及上一组组员的评分，发送至邮箱。</a:t>
            </a:r>
            <a:endParaRPr lang="zh-CN" altLang="en-US" sz="2400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1" indent="-34290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200" b="1" dirty="0" smtClean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分析内容参考</a:t>
            </a:r>
            <a:endParaRPr lang="en-US" altLang="zh-CN" sz="32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2" indent="-571500" algn="just">
              <a:lnSpc>
                <a:spcPct val="16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行业分析、公司概况、正股走势判断、债底价值估算、转债条款分析、信用风险评估、流动性考量、估值指标分析、期权价值评估、市场表现预测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301</Words>
  <Application>Microsoft Office PowerPoint</Application>
  <PresentationFormat>宽屏</PresentationFormat>
  <Paragraphs>22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等线</vt:lpstr>
      <vt:lpstr>宋体</vt:lpstr>
      <vt:lpstr>Arial</vt:lpstr>
      <vt:lpstr>Calibri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刘书婷</dc:creator>
  <cp:lastModifiedBy>01</cp:lastModifiedBy>
  <cp:revision>134</cp:revision>
  <dcterms:created xsi:type="dcterms:W3CDTF">2024-10-15T02:22:00Z</dcterms:created>
  <dcterms:modified xsi:type="dcterms:W3CDTF">2026-09-18T13:25:21Z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2024-04-15T16:00:00Z</vt:filetime>
  </property>
  <property fmtid="{D5CDD505-2E9C-101B-9397-08002B2CF9AE}" pid="3" name="Creator">
    <vt:lpwstr>WPS 演示</vt:lpwstr>
  </property>
  <property fmtid="{D5CDD505-2E9C-101B-9397-08002B2CF9AE}" pid="4" name="LastSaved">
    <vt:filetime>2024-10-16T16:00:00Z</vt:filetime>
  </property>
  <property fmtid="{D5CDD505-2E9C-101B-9397-08002B2CF9AE}" pid="5" name="SourceModified">
    <vt:lpwstr>D:20240414194158+11'41'</vt:lpwstr>
  </property>
  <property fmtid="{D5CDD505-2E9C-101B-9397-08002B2CF9AE}" pid="6" name="ICV">
    <vt:lpwstr>D7065BA76E7841D4A399C65966C6ACAA_12</vt:lpwstr>
  </property>
  <property fmtid="{D5CDD505-2E9C-101B-9397-08002B2CF9AE}" pid="7" name="KSOProductBuildVer">
    <vt:lpwstr>2052-12.1.0.23125</vt:lpwstr>
  </property>
</Properties>
</file>