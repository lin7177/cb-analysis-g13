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91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42" y="2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060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讲述责任：B1；口播预算：15秒</a:t>
            </a:r>
          </a:p>
          <a:p>
            <a:r>
              <a:t>各位老师、各位同学，大家好！我们是第13组。今天汇报的题目是《可转换债券投资分析》。先把结论放在最前面：18只转债里，我们推荐3只、回避3只，所有条件全部公开、可以核验。接下来大约19分钟，我们把这份名单是怎么一步一步算出来的，完完整整地讲给大家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讲述责任：B4；口播预算：30秒</a:t>
            </a:r>
          </a:p>
          <a:p>
            <a:r>
              <a:t>先介绍我们的团队。全组十个人：六位金融分析方向的同学组成A组，每人负责3只标的，看行业、公司、正股、财务和信用条款；四位金融工程量化的同学组成B组，负责数据底座、测算工具、权重来源，并独立完成市场表现预测——分工原则是测算归B、打分归A，B线不抢A线的内容。两条线不是各干各的，而是在同一批券上互相验证——比如A线说公司不错，B线会去看价格是不是已经把乐观预期算进去了。这样分工既发挥专业优势，也避免重复劳动，就像真实投研团队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讲述责任：B4；口播预算：25秒</a:t>
            </a:r>
          </a:p>
          <a:p>
            <a:r>
              <a:t>答案先亮出来。推荐三只：海顺、莱克、特纸，共同点是有真实的价格补偿、条件可核验；回避三只：科沃、帝欧、亿田。特别说科沃——公司经营全池最优，但溢价286%实在太贵，这个例子后面还会反复出现，因为好公司真的不等于好转债。还要强调，这份名单不是拍脑袋定的，是用统一框架一步步算出来的，方法下一页就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讲述责任：B4；口播预算：50秒</a:t>
            </a:r>
          </a:p>
          <a:p>
            <a:r>
              <a:t>这页是全组的方法核心，先把分工说清楚：六个维度里五个由A线打分——经营信用、估值、债底、正股联动、流动性路径；B线只独立承担市场表现预测这一维。我们B组四个人主要干四件事：把数据洗干净、把树差β这些测算工具造好、把权重从市场数据里反推出来、再加上预测。树差、β这些数字是我们算的，但给每只券打分的权力在A线同学手上——测算归B、打分归A。权重不是人手上出的：全市场799只转债、四年半数据反推，我们的18只全部剔除，纯样本外。评分之外三条红线：评级下调、溢价超100%、到期或样本不足，踩线一票否决。名单马上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置于原P4六维框架后、原P5分部分析前，讲述60—80秒。承接句：刚才说明了六个维度，现在交代它们怎样合成。先用一句话讲权重来自历史统计，再说明FM关系强度与IC排序稳定性，各占一半。六个权重完整展示，只展开债底48%的算例，不逐行念代理和小数。过渡句：框架和权重确定，接下来先看A线对公司与信用的判断，再看B线量化证据，最后统一合成与决策。权重回答每类证据在历史样本中与风险约束收益有多强关系。底层799只，有效截面43个月（2022-06至2025-12），平均每月399.16只，不能说799只都进入每月回归。过滤85—260元、剩余规模至少2亿元，并剔除本组18券。未来120日标签如触及运行峰值回撤-15%，直接赋值-15%，属于简化标签，不代表真实止损净收益。两条管线：FM每月8特征多元回归，平均系数绝对值归一化；RankIC每月计算特征排名与标签排名的Spearman相关，ICIR为跨月均值/标准差，正部归一化。两分支各50%，D1评级与权益资产两个代理加总，D5回撤与换手两个代理加总，其余各一个。D6来自历史损失频率，不能称全市场预测模型复算验证。精确六维权重12.5804709042/2.2720226867/47.8588418081/7.3731576444/23.1787550875/6.7367518692%，综合计算应用精确值。t不是权重，50/50混合、标签和代理均是研究者选择。FM绝对值包含负关系，打分方向一致性另需验证。排除18券不能代替时间OOS，当前评级快照有前视限制。来源：本轮build/data.json锁定的V6展示权重；b-quant/src/bquant/weights/features.py、estimate.py；b-quant/results/weights/weigh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讲述责任：A1；口播预算：25秒</a:t>
            </a:r>
          </a:p>
          <a:p>
            <a:r>
              <a:t>进入分线部分，先用一页看清这18只券的底色：不是一个行业，是六种生意，按需求机制分四组。地产链六只，看装修需求、回款、应收与减值；纸与包装四只，看产能投放、原料成本和出口订单；出口制造与海外仓两只，看汇率、海运和海外需求；家电厨电一组六只，看新品周期、国补基数和客户结构。强调一句：行业只决定我们分析哪些指标，不直接决定买卖。接下来由我打头阵，讲我负责的三只——特纸、永吉、艾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讲述责任：A1；口播预算：35秒</a:t>
            </a:r>
          </a:p>
          <a:p>
            <a:r>
              <a:t>第一只特纸，先抛一个问题：产能翻倍的账，最后谁来付？增长是真的——收入同比增18.8%，扣非2.26亿，湖北产线放量带动机制纸销量。但账单也是真的：经营现金一年只有1.06亿，短借却高达45亿，资产负债率73.3%——约束在融资端，不在经营端。反证我们也摆出来：AA评级维持，销量与扣非同步增长。价格上，树差负5%，模型觉得不值这个市价，所以它开放券第一，行动却是等待。下一只永吉，问题出在利润的成色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讲述责任：A1；口播预算：25秒</a:t>
            </a:r>
          </a:p>
          <a:p>
            <a:r>
              <a:t>永吉更有意思：归母利润0.82亿是正的，扣非却是负0.25亿——利润靠金融资产浮盈撑着，主业在亏，盈利质量存疑。价格上更极端：YTM负19.3%，等于市价里全是期权故事，没有任何补偿；树差负13%，全池最深。反证也摆出来：AA-维持、经营现金0.69亿为正、杠杆不高——不是烂公司，是价格太贵。所以综合2.92分垫底，开放第六。今年2月它还公告不提前赎回，博弈空间进一步收窄。接下来艾录，讲评级的硬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讲述责任：A1；口播预算：25秒</a:t>
            </a:r>
          </a:p>
          <a:p>
            <a:r>
              <a:t>艾录的修复是真的：归母转正，经营现金0.38亿为正，收入还增了14.4%。但评级从A+降到A，这是硬约束——直接触发R1红线，修复得再好也出局。而且转股溢价率88%，价格里已经预支了修复预期，想靠它赚估值修复的钱，空间也不大。反证看一下：现金1.61亿略高于短借1.23亿，缓冲存在但很薄；一年内还有0.40亿到期，续接安排要盯住。到这里我负责的三只讲完了，下面交给A2，从地产链的欧22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讲述责任：A2；口播预算：35秒</a:t>
            </a:r>
          </a:p>
          <a:p>
            <a:r>
              <a:t>欧22是定制家居龙头，看一组核心对比：扣非还有3.61亿，经营现金只剩0.92亿——上年是16.67亿，降了94%。渠道改革把货铺出去了，却没变成回款，收入也降了27.8%。反证我们也摆出来：AA维持、账上资金厚，是弱化不是危机；同组对照，江山在收缩赊销、志邦在亏损，地产链的现金问题是一致的。判断上它权重合成开放第二，但树差负8%，价格补偿不足；6月9号公告不下修后，下修博弈期权也关闭了。接下来看江山的回售兑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讲述责任：A2；口播预算：25秒</a:t>
            </a:r>
          </a:p>
          <a:p>
            <a:r>
              <a:t>江山在主动收缩赊销，代价是收入直接砍半，负49.8%，扣非和经营现金双负。回售结果公告落在9月18日，说明集中兑付压力是实的：账上现金2.61亿，不能直接覆盖6.49亿的债券账面负债——期限不同，中间还有理财。评级从AA-降到A，触发R1红线，信用维度直接出局。但它的对照价值很大：地产链都在过现金关，这就是我们组内做同业对照的样本。下一只志邦，同样是负向，而且卡在溢价红线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讲述责任：A2；口播预算：25秒</a:t>
            </a:r>
          </a:p>
          <a:p>
            <a:r>
              <a:t>志邦半年报说这是首次上半年亏损：归母负1.57亿，经营现金负1.95亿，双负。评级AA还维持着，但评级救不了条款：转股溢价率113.6%，超过100%触发R2红线；8月4号又公告不下修，条款博弈也帮不上。唯一的亮点是海外整装，撑不住国内零售与大宗的调整。到这里我们三人负责的地产链三只——欧22、江山、志邦——全部负向，这个行业的现金问题是一致的。接下来交给A3，讲同一行业里成色稍好的蒙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讲述责任：A3；口播预算：25秒</a:t>
            </a:r>
          </a:p>
          <a:p>
            <a:r>
              <a:t>蒙娜是地产链里成色较好的一只：扣非转正0.50亿，经营现金1.82亿，货币资金15.46亿覆盖短借3.22亿绰绰有余——AA-的缓冲是真的。反证也如实说：现金改善里有订货保证金的贡献，剔除之后覆盖仍成立，只是成色打折。但转股溢价率110%，半年内正股要涨一倍还多才够兑现，触发R2溢价红线，价格不合格。债底覆盖0.963是全池前列的真债底，还触发过回售保护机制。下一页把蒙娜和帝欧放在一起，看同一个行业的信用两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讲述责任：A3；口播预算：35秒</a:t>
            </a:r>
          </a:p>
          <a:p>
            <a:r>
              <a:t>同样做瓷砖卫浴，蒙娜是AA-，帝欧却降到了BBB+，差别就在现金：账上7.67亿抵不了9.43亿短借，收入也还在降。反证我也摆出来：经营现金1.37亿转正、亏损收窄、转股减债，改善是真的，只是偿债能力还没被证明，改判条件是扣非持续盈利加融资改善。市场只给1.5%的溢价，树差正13.8全池最高——这个便宜，正是信用风险的定价，后面B1的全池定价页会接着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讲述责任：A3；口播预算：25秒</a:t>
            </a:r>
          </a:p>
          <a:p>
            <a:r>
              <a:t>金23是三条负面叠在一起：亏损在加深，转股溢价187.9%挂在最高档，7月11日又公告不下修，条款期权也关了。有同学会问，债底覆盖0.9很安全啊——但债底安全不等于值得买。AA维持是唯一的正面项，可首次亏损加融资增加，都得重新观察，所以它踩了R2溢价红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讲述责任：A4；口播预算：35秒</a:t>
            </a:r>
          </a:p>
          <a:p>
            <a:r>
              <a:t>海顺常被误读成经营亏损，其实是税打出来的：利润总额赚510万，所得税却要交1652万，其中924万递延税来自股权处置，归母就这样被打成负的。反转目前没有证实，但现金3.87亿对1.72亿短借、药包准入和客户黏性是实的。更关键的是树差正4.9%，是非红线券里最高的补偿——这就是它进推荐池、给有限买入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讲述责任：A4；口播预算：25秒</a:t>
            </a:r>
          </a:p>
          <a:p>
            <a:r>
              <a:t>乐歌不是不好，而是10月20日就到期，离观察日只剩20天，我们的六个月评价框架对它直接失效，所以按R3框架外单列。顺带验证了现金流核验，YTM转正到正2.0%。它经营现金2.47亿不差，A+也维持，只是海外现金要考虑币种和资金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讲述责任：A4；口播预算：25秒</a:t>
            </a:r>
          </a:p>
          <a:p>
            <a:r>
              <a:t>嘉益是A线里少有的现金正循环：经营现金1.04亿，负债率全池最低档，A+维持、低杠杆，公司本身不差。但171%的溢价，等于把未来好几年的利润都预支进了价格，踩了R2红线。到这里我们A4三人组讲完：海顺进池、乐歌框架外、嘉益红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讲述责任：A5；口播预算：25秒</a:t>
            </a:r>
          </a:p>
          <a:p>
            <a:r>
              <a:t>科沃经营是全池最优：扣非8.05亿、货币资金56亿，综合分6.04也是全池最高。但286%的溢价，正股要涨将近三倍才够兑现；而且β只有0.07，正股的涨基本传不进债价——这一点后面B2会用数据来验证。好公司不等于好转债，科沃就是数字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讲述责任：A5；口播预算：35秒</a:t>
            </a:r>
          </a:p>
          <a:p>
            <a:r>
              <a:t>莱克扣非只剩500万，主因是3.89亿的汇兑损失，剔除汇兑同比也还降16.3%。但现金要另算：货基49.84亿、存单49.11亿、未用授信122亿，缓冲很厚，当然72.51亿短借也不小。树差正2.7%，是第二个正补偿，所以补偿入围第二席，先等待，条件是毛利率21%以上、业务资金匹配、动态价格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讲述责任：A5；口播预算：25秒</a:t>
            </a:r>
          </a:p>
          <a:p>
            <a:r>
              <a:t>翔26上市才3个月，报价只有61条，凑不满120日窗口，模型根本没有窗口可跑——不是不好，是没法评，所以按R3红线单列、参数化处理。它的收入增长来自工程机械与精密件，正好给同组的莱克做对照：收入增长要看到回款才算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讲述责任：A6；口播预算：35秒</a:t>
            </a:r>
          </a:p>
          <a:p>
            <a:r>
              <a:t>亿田主业收入腰斩52.9%，第二曲线算力更是在亏钱做收入：2329万收入，毛利率是负37.97%。可它的债价181.6元是全池最贵，YTM负12.4%，等于倒贴利息买入。评级又从AA-降到A+，9月已触发强赎，不赎回承诺只到12月23日，盖不住六个月——这条坑后面B0还会再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讲述责任：A6；口播预算：25秒</a:t>
            </a:r>
          </a:p>
          <a:p>
            <a:r>
              <a:t>火星是灶具链的第二只负向券，和亿田同属一条链，量价齐跌。看数字：归母与经营现金双双为负，现金流出一点三亿；评级从AA-下调到A+，我们核实过公告，直接踩中R1红线。反证也摆出来：现金和理财还有缓冲，但经营在持续流出、融资需求在增加。溢价93%没到R2红线，所以它的问题不在价格，在经营与信用的双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讲述责任：A6；口播预算：25秒</a:t>
            </a:r>
          </a:p>
          <a:p>
            <a:r>
              <a:t>最后一只小熊。它各项都及格：经营现金二点零四亿为正，短借为零，负债率也不高，综合四点九、开放第四。但及格不等于突出——树差负百分之九点二，卡在补偿门槛外面：没有树差大于等于零的模型补偿，就不进推荐池。这句话也解释了，为什么A线判断还不错的券，也可能不推荐。到这里，A组六位同学的公司都讲完了，接下来交给B线，用数字来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讲述责任：B1；口播预算：45秒</a:t>
            </a:r>
          </a:p>
          <a:p>
            <a:r>
              <a:t>A线讲完公司，轮到数据说话。底座有四万四千条真实日线、一百零八笔现金流、五十八次除息、二十四项测试。修过三个真实的坑：帝欧到期日合同是10月24日，数据表给了25日，18券全部改用合同末日；第六年只记含末息兑付额，不再重复计息；亿田不赎回承诺只到12月23日，不覆盖未来六个月——这条坑直接进了亿田红线。代码都在b-quant仓库，SHA-256一键离线复算，谁跑结果都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讲述责任：B1；口播预算：32秒</a:t>
            </a:r>
          </a:p>
          <a:p>
            <a:r>
              <a:t>进入B线，第一件事是定价。我们给每只券算两个价：第一层是债底，把剩下的票息和到期兑付一笔笔折现回来，这是兜底的部分；第二层用二叉树，在每个节点比较立即转股和继续持有，把期权价值算出来，利差取三档情景，不赌单一利率。模型稳不稳？我们把步数从401加倍到801，全池定价差异不到0.163%，说明数值是收敛的。最后声明一句：树差只用来排序，不是公允价。这两个测算都喂给A线的债底和估值维度——打分权在A线同学手上，测算归B、打分归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讲述责任：B1；口播预算：32秒</a:t>
            </a:r>
          </a:p>
          <a:p>
            <a:r>
              <a:t>这一页把18只券的树差排个队。先教大家怎么看：正数代表模型觉得比市价便宜。但便宜分两种：帝欧和亿田排最前，靠的是高波动加上模型不含强赎违约，便宜正是风险的另一种写法，这是陷阱；海顺加4.9、莱克加2.7，才是温和的真补偿。特纸是负5，模型觉得不值这个价，所以我们选择等——这正好回应了A1同学对特纸"等待"的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讲述责任：B2；口播预算：40秒</a:t>
            </a:r>
          </a:p>
          <a:p>
            <a:r>
              <a:t>定价之后看传导。我们拿日收益率做回归，β就是弹性——正股动百分之一，转债跟着动多少。但回归最容易编故事，所以加了留出检验：最后六十天当考卷，跟均值瞎猜比，赢不了就不算数，失败的结果也全部保留。图上三个点最典型：亿田最强，债价贴着正股走；帝欧留出检验失败，关系在漂移；科沃β只有0.07，它其实就是一只债。这就回应了A线：科沃经营最优，但故事传不进债价。β和R²是A线给D4打分的测算依据——测算归B、打分归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讲述责任：B3；口播预算：40秒</a:t>
            </a:r>
          </a:p>
          <a:p>
            <a:r>
              <a:t>B3看持有的过程，不光看终点。帝欧这一百二十天，先冲到加31.2%，那是四月二十一号的峰值，然后一路回撤27.7%，期末小亏4.96%——中途拿不住，就拿不到期末，持有体验本身就是风险。右边的表更要紧：同样一只券，窗口口径一换，结论从负2%变成正4.7%，所以我们四种口径并列摆出来，不挑好看的数字。流动性也是两极：亿田43.4万手，艾录只有0.56万手。这一页为A线D5提供测算输入，市场权重里占23%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讲述责任：B4；口播预算：35秒</a:t>
            </a:r>
          </a:p>
          <a:p>
            <a:r>
              <a:t>B4做预测，给六个月一个分布，不是一个点。四步走：第一步从这只股票自己的历史里抽样，生成一万条路径，肥尾跳空都是它自己的；第二步把每条路径放到CRR曲面上重新定价；第三步算两个口径，真值取中间；第四步回到历史上六个时点做自校。结果我们如实报告：75次检验只有72%落进区间，比名义的90%窄，模型偏自信。所以规矩是不许只看中位数，P5和压力情景必须一起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讲述责任：B4；口播预算：35秒</a:t>
            </a:r>
          </a:p>
          <a:p>
            <a:r>
              <a:t>六只代表券的预测，按行动分三组读。可买的只有海顺：中位加4%，最差亏10.3%，我们接受这个尾部，所以是有限买入，不是重仓。等条件的是莱克和特纸，特纸收敛口径还是负的，模型觉得贵。不合格的三只：亿田中枢加10.6%看着最高，但P5是负22%，尾部不合格；科沃96%的概率是亏的，六个半月几乎横着走；帝欧价差维持口径负9%。一句话：中枢好看不等于能买，关键看尾部。这些分布直接构成D6市场表现预测分——这是B线唯一独立承担的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讲述责任：B4；口播预算：40秒</a:t>
            </a:r>
          </a:p>
          <a:p>
            <a:r>
              <a:t>这是全组的一张总表：18只券、六个维度。读法很简单：每个分数乘上市场权重加总，得到综合分；红线不进计算，在表外一票否决。三个看点：第一，科沃综合6.04全池最高，但踩了溢价红线，照样否掉——好公司不等于好转债，这是它的数字版；第二，特纸5.61，开放券第一，是权重补位候选；第三，红线券各有触发列，乐歌还双踩。红线一共12只。具体的决策规则，下一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讲述责任：B4；口播预算：45秒</a:t>
            </a:r>
          </a:p>
          <a:p>
            <a:r>
              <a:t>权重哪来的？799只转债、四年半的面板反推，剔除本组18只，纯样本外。这张表挑三个讲：债底覆盖占48%，四年斜率全正，是结构性规律；低溢价只有2%，逐年翻符号就归零，我们不赌周期；低换手23%，四年全负，换手就是妖债温度计。决策两步走：先补偿入围，树差非负且无红线的直接进池，海顺、莱克；席位不够再按综合分补位，特纸5.61。为什么不直接取前三？权重有噪声，门槛看绝对补偿，不怕抖动。稳健性也验过：换成等权对照，第三席仍然是特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讲述责任：B1；口播预算：35秒</a:t>
            </a:r>
          </a:p>
          <a:p>
            <a:r>
              <a:t>报名单。海顺是唯一现在就买的：树差加4.9%，中位加4%，传导留出检验也过了——但仓位要轻，经营现金、融资或条款任一恶化，就暂停重估。莱克等三条：毛利率回到21%以上、业务资金匹配、动态价格通过。特纸是权重补位进来的，模型觉得它还贵，所以要等三样：扩产现金兑现、融资落地、价格合适。请记住，条件不满足就不买——我们推荐的是条件化行动，不是无脑持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讲述责任：B3；口播预算：35秒</a:t>
            </a:r>
          </a:p>
          <a:p>
            <a:r>
              <a:t>回避的三只，各踩死一条红线。科沃：经营全池最优，但转股溢价286%，正股要涨近三倍才够兑现，β还只有0.07，故事传不动，96%的概率是亏的。帝欧：评级降到BBB+，现金7.67亿抵不住短借9.43亿——改善存在，但偿债能力没证明。亿田：全池最贵还倒贴利息，不赎回承诺只到12月23日。但红线不是永远，每只都附了可核验的改判条件——回避不是否定公司，是否定价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讲述责任：B4；口播预算：20秒</a:t>
            </a:r>
          </a:p>
          <a:p>
            <a:r>
              <a:t>最后用一分钟总结。我们的方法链条就三步：四道门槛筛选，价格补偿排序，条件化行动。A线同学看行业、看公司、看信用条款，B线用四万四千多条日线、一万条路径做数据验证，两边交叉验证、全组共同决策——金融分析的眼力，加上金融工程的尺子。这就是我们十个人对同一个投资问题的回答。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09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mpus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90000"/>
            <a:ext cx="12192119" cy="2268000"/>
          </a:xfrm>
          <a:prstGeom prst="rect">
            <a:avLst/>
          </a:prstGeom>
        </p:spPr>
      </p:pic>
      <p:pic>
        <p:nvPicPr>
          <p:cNvPr id="3" name="Picture 2" descr="suf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22000" y="979200"/>
            <a:ext cx="324000" cy="396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3999" y="11160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0" i="0" spc="20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第13组 ｜ 轻工制造 × 家用电器 ｜ 债券投资课程小组汇报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3999" y="1386000"/>
            <a:ext cx="11185200" cy="68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4000" b="1" i="0" spc="60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999" y="2160000"/>
            <a:ext cx="111852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18只转债 · </a:t>
            </a:r>
            <a:r>
              <a:rPr sz="1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两条研究线</a:t>
            </a:r>
            <a:r>
              <a:rPr sz="14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· 3推荐 / 3回避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8059" y="2574000"/>
            <a:ext cx="33480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81659" y="2700000"/>
            <a:ext cx="100800" cy="100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6059" y="2844000"/>
            <a:ext cx="31320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18只标的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059" y="3103199"/>
            <a:ext cx="3132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轻工12 · 家电6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2059" y="2574000"/>
            <a:ext cx="33480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45659" y="2700000"/>
            <a:ext cx="100800" cy="100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0060" y="2844000"/>
            <a:ext cx="31320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A组6人 × B组4人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0060" y="3103199"/>
            <a:ext cx="3132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基本面与信用 × 量化与验证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6059" y="2574000"/>
            <a:ext cx="33480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09660" y="2700000"/>
            <a:ext cx="100800" cy="100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94060" y="2844000"/>
            <a:ext cx="31320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3推荐 · 3回避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4060" y="3103199"/>
            <a:ext cx="3132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条件全部公开可核验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3816000"/>
            <a:ext cx="111852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观察日 2026-09-30 ｜ 公开信息截止当日15:00 ｜ 评价窗口至 2027-03-30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总 · 开篇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07727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</a:t>
            </a:r>
            <a:r>
              <a:rPr lang="en-US"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0</a:t>
            </a:r>
            <a:r>
              <a:rPr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 · 30s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十个人，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两条线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，一个投资问题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两专业协作：不是分成两拨各做各的，而是互相验证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3999" y="1278000"/>
            <a:ext cx="5500800" cy="2592000"/>
          </a:xfrm>
          <a:prstGeom prst="roundRect">
            <a:avLst>
              <a:gd name="adj" fmla="val 5000"/>
            </a:avLst>
          </a:prstGeom>
          <a:solidFill>
            <a:srgbClr val="FBF3F3"/>
          </a:solidFill>
          <a:ln w="1270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3999" y="1278000"/>
            <a:ext cx="50400" cy="2592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4000" y="1385999"/>
            <a:ext cx="42768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A组 ｜ 基本面与信用研究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1638000"/>
            <a:ext cx="42768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i="0" spc="12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金融分析方向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0800" y="1368000"/>
            <a:ext cx="864000" cy="50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36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6</a:t>
            </a:r>
            <a:r>
              <a:rPr sz="11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 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4000" y="1861200"/>
            <a:ext cx="51408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2000" y="1994400"/>
            <a:ext cx="50400" cy="50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0000" y="1944000"/>
            <a:ext cx="4978800" cy="3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每人负责3只标的、共覆盖18只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2000" y="2397600"/>
            <a:ext cx="50400" cy="50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0000" y="2347200"/>
            <a:ext cx="4978800" cy="3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看行业、公司、正股、财务与信用风险、转债条款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4000" y="2844000"/>
            <a:ext cx="51408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2000" y="2887200"/>
            <a:ext cx="4924800" cy="273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产出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＝每只券一个『判断 + 证据』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4800" y="1278000"/>
            <a:ext cx="5500800" cy="25920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800" y="1278000"/>
            <a:ext cx="50400" cy="259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800" y="1385999"/>
            <a:ext cx="42768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B组 ｜ 量化与市场验证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800" y="1638000"/>
            <a:ext cx="42768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i="0" spc="12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金融工程与量化投资方向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41600" y="1368000"/>
            <a:ext cx="864000" cy="50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36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4</a:t>
            </a:r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 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4800" y="1861200"/>
            <a:ext cx="51408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82800" y="1994400"/>
            <a:ext cx="50400" cy="50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0800" y="1944000"/>
            <a:ext cx="4978800" cy="3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4年+全市场日线数据、自建b-quant代码仓库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800" y="2397600"/>
            <a:ext cx="50400" cy="50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0800" y="2347200"/>
            <a:ext cx="4978800" cy="37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负责数据底座、测算工具、权重来源、市场表现预测四件事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64800" y="2844000"/>
            <a:ext cx="5140800" cy="3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2800" y="2887200"/>
            <a:ext cx="4924800" cy="273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产出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＝给A线的判断装上数据底座和计算器，并独立完成市场表现预测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3999" y="4014000"/>
            <a:ext cx="1977840" cy="4860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7999" y="4014000"/>
            <a:ext cx="1869840" cy="48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统一候选池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1840" y="4014000"/>
            <a:ext cx="324000" cy="48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05840" y="4014000"/>
            <a:ext cx="1977840" cy="4860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59840" y="4014000"/>
            <a:ext cx="1869840" cy="48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A线基本面/信用分析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3680" y="4014000"/>
            <a:ext cx="324000" cy="48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07680" y="4014000"/>
            <a:ext cx="1977840" cy="4860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61680" y="4014000"/>
            <a:ext cx="1869840" cy="48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B线定价与数据验证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5520" y="4014000"/>
            <a:ext cx="324000" cy="48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09520" y="4014000"/>
            <a:ext cx="1977840" cy="4860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63520" y="4014000"/>
            <a:ext cx="1869840" cy="48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交叉讨论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7360" y="4014000"/>
            <a:ext cx="324000" cy="48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11360" y="4014000"/>
            <a:ext cx="1977840" cy="48600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65360" y="4014000"/>
            <a:ext cx="1869840" cy="486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3推荐·3回避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3999" y="4644000"/>
            <a:ext cx="11185200" cy="720000"/>
          </a:xfrm>
          <a:prstGeom prst="rect">
            <a:avLst/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03999" y="4644000"/>
            <a:ext cx="43200" cy="72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6000" y="4687200"/>
            <a:ext cx="10861200" cy="633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协作的价值：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例如A线判断"公司不错"，B线发现转债估值已把乐观预期 price in——结论就成了"公司不错，但当前不是好买点"。两条研究线互相补充、互相验证，不是简单拼接。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3999" y="5526000"/>
            <a:ext cx="36084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000" y="5526000"/>
            <a:ext cx="3428400" cy="432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1名总负责人+两线各1名协调人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2400" y="5526000"/>
            <a:ext cx="36084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82400" y="5526000"/>
            <a:ext cx="3428400" cy="432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同一批券·同一个问题，不是两份作业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80800" y="5526000"/>
            <a:ext cx="3608400" cy="43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170800" y="5526000"/>
            <a:ext cx="3428400" cy="432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模拟真实投研：研究员+量化验证+投资决策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02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总 · 开篇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07727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</a:t>
            </a:r>
            <a:r>
              <a:rPr lang="en-US"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0</a:t>
            </a:r>
            <a:r>
              <a:rPr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先亮答案：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3只推荐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，3只回避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好公司 ≠ 好转债——价格补偿决定买卖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3999" y="1242000"/>
            <a:ext cx="646727" cy="223200"/>
          </a:xfrm>
          <a:prstGeom prst="roundRect">
            <a:avLst>
              <a:gd name="adj" fmla="val 1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3999" y="1242000"/>
            <a:ext cx="646727" cy="22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i="0" spc="30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推 荐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94727" y="1350000"/>
            <a:ext cx="10394472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3999" y="1530000"/>
            <a:ext cx="3524399" cy="1620000"/>
          </a:xfrm>
          <a:prstGeom prst="roundRect">
            <a:avLst>
              <a:gd name="adj" fmla="val 6000"/>
            </a:avLst>
          </a:prstGeom>
          <a:solidFill>
            <a:srgbClr val="FBF3F3"/>
          </a:solidFill>
          <a:ln w="1270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6000" y="1638000"/>
            <a:ext cx="1980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海顺转债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74775" y="1645200"/>
            <a:ext cx="309624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000" y="2015999"/>
            <a:ext cx="54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行动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5999" y="2015999"/>
            <a:ext cx="26603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有限买入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000" y="2347200"/>
            <a:ext cx="54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T全价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5999" y="2347200"/>
            <a:ext cx="26603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129.05 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000" y="2678400"/>
            <a:ext cx="54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5999" y="2678400"/>
            <a:ext cx="26603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+4.9%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399" y="1530000"/>
            <a:ext cx="3524399" cy="1620000"/>
          </a:xfrm>
          <a:prstGeom prst="roundRect">
            <a:avLst>
              <a:gd name="adj" fmla="val 6000"/>
            </a:avLst>
          </a:prstGeom>
          <a:solidFill>
            <a:srgbClr val="FBF3F3"/>
          </a:solidFill>
          <a:ln w="1270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16399" y="1638000"/>
            <a:ext cx="1980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莱克转债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5175" y="1645200"/>
            <a:ext cx="309624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#2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6399" y="2015999"/>
            <a:ext cx="54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行动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6399" y="2015999"/>
            <a:ext cx="26603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等待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6399" y="2347200"/>
            <a:ext cx="54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T全价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6399" y="2347200"/>
            <a:ext cx="26603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129.81 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6399" y="2678400"/>
            <a:ext cx="54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56399" y="2678400"/>
            <a:ext cx="26603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+2.7%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04799" y="1530000"/>
            <a:ext cx="3524399" cy="1620000"/>
          </a:xfrm>
          <a:prstGeom prst="roundRect">
            <a:avLst>
              <a:gd name="adj" fmla="val 6000"/>
            </a:avLst>
          </a:prstGeom>
          <a:solidFill>
            <a:srgbClr val="FBF3F3"/>
          </a:solidFill>
          <a:ln w="1270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66799" y="1638000"/>
            <a:ext cx="1980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特纸转债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875575" y="1645200"/>
            <a:ext cx="309624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#3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6799" y="2015999"/>
            <a:ext cx="54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行动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6799" y="2015999"/>
            <a:ext cx="26603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等待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6799" y="2347200"/>
            <a:ext cx="54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T全价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6799" y="2347200"/>
            <a:ext cx="26603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133.52 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66799" y="2678400"/>
            <a:ext cx="54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综合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6799" y="2678400"/>
            <a:ext cx="26603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5.61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999" y="3294000"/>
            <a:ext cx="646727" cy="223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24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3999" y="3294000"/>
            <a:ext cx="646727" cy="22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i="0" spc="30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回 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94727" y="3402000"/>
            <a:ext cx="10394472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503999" y="3581999"/>
            <a:ext cx="3524399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6000" y="3690000"/>
            <a:ext cx="1980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科沃转债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49952" y="3697200"/>
            <a:ext cx="434447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回避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000" y="4121999"/>
            <a:ext cx="3200399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转股溢价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286%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，全池最贵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000" y="4553999"/>
            <a:ext cx="3200399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β0.07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，故事传不动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54399" y="3581999"/>
            <a:ext cx="3524399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16399" y="3690000"/>
            <a:ext cx="1980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帝欧转债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00352" y="3697200"/>
            <a:ext cx="434447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回避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16399" y="4121999"/>
            <a:ext cx="3200399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BBB+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降级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16399" y="4553999"/>
            <a:ext cx="3200399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现金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7.67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亿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&lt;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短借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9.43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亿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04799" y="3581999"/>
            <a:ext cx="3524399" cy="162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66799" y="3690000"/>
            <a:ext cx="19800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亿田转债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750752" y="3697200"/>
            <a:ext cx="434447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回避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66799" y="4121999"/>
            <a:ext cx="3200399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债价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181.6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元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66799" y="4553999"/>
            <a:ext cx="3200399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不赎回承诺只到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12-23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3999" y="5382000"/>
            <a:ext cx="11185200" cy="486000"/>
          </a:xfrm>
          <a:prstGeom prst="rect">
            <a:avLst/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03999" y="5382000"/>
            <a:ext cx="43200" cy="486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6000" y="5425199"/>
            <a:ext cx="10861200" cy="399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其余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12只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触发红线一票否决 ｜ 全部条件公开可核验，评价终点统一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2027-03-30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03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总 · 开篇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07727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</a:t>
            </a:r>
            <a:r>
              <a:rPr lang="en-US"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0</a:t>
            </a:r>
            <a:r>
              <a:rPr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 · 50s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评分框架：六维打分，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权重让市场说了算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老师参考清单十项全覆盖 · 打分归A线，测算与权重归B线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3999" y="1278000"/>
            <a:ext cx="3643199" cy="16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6000" y="1378800"/>
            <a:ext cx="576000" cy="3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D1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82657" y="1429200"/>
            <a:ext cx="938542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打分人 A1-A6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000" y="1789200"/>
            <a:ext cx="3319199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经营与信用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000" y="2062800"/>
            <a:ext cx="33191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6000" y="2127600"/>
            <a:ext cx="378000" cy="180000"/>
          </a:xfrm>
          <a:prstGeom prst="roundRect">
            <a:avLst>
              <a:gd name="adj" fmla="val 30000"/>
            </a:avLst>
          </a:prstGeom>
          <a:noFill/>
          <a:ln w="1016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7200" y="2127600"/>
            <a:ext cx="2941199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A线判断映射+评级/降级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3200" y="1278000"/>
            <a:ext cx="3643199" cy="16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5199" y="1378800"/>
            <a:ext cx="576000" cy="3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D2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9149" y="1443600"/>
            <a:ext cx="1121250" cy="18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树差参考 · 测算B1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15833" y="1429200"/>
            <a:ext cx="799316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打分人 A线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5199" y="1789200"/>
            <a:ext cx="3319199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估值可兑现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5199" y="2062800"/>
            <a:ext cx="33191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35199" y="2127600"/>
            <a:ext cx="378000" cy="180000"/>
          </a:xfrm>
          <a:prstGeom prst="roundRect">
            <a:avLst>
              <a:gd name="adj" fmla="val 30000"/>
            </a:avLst>
          </a:prstGeom>
          <a:noFill/>
          <a:ln w="1016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口径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6399" y="2127600"/>
            <a:ext cx="2941199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转股溢价率+条款博弈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2399" y="1278000"/>
            <a:ext cx="3643199" cy="16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04399" y="1378800"/>
            <a:ext cx="576000" cy="3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D3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38349" y="1443600"/>
            <a:ext cx="1121250" cy="18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折现现值 · 测算B1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85033" y="1429200"/>
            <a:ext cx="799316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打分人 A线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4399" y="1789200"/>
            <a:ext cx="3319199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债底保护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4399" y="2062800"/>
            <a:ext cx="33191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04399" y="2127600"/>
            <a:ext cx="378000" cy="180000"/>
          </a:xfrm>
          <a:prstGeom prst="roundRect">
            <a:avLst>
              <a:gd name="adj" fmla="val 30000"/>
            </a:avLst>
          </a:prstGeom>
          <a:noFill/>
          <a:ln w="1016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25599" y="2127600"/>
            <a:ext cx="2941199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债底覆盖＝折现现值/市价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3999" y="3023999"/>
            <a:ext cx="3643199" cy="16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6000" y="3124799"/>
            <a:ext cx="576000" cy="3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D4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11189" y="3189600"/>
            <a:ext cx="910010" cy="18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β×R² · 测算B2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57872" y="3175199"/>
            <a:ext cx="799316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打分人 A线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000" y="3535199"/>
            <a:ext cx="3319199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正股走势与联动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6000" y="3808799"/>
            <a:ext cx="33191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66000" y="3873599"/>
            <a:ext cx="378000" cy="180000"/>
          </a:xfrm>
          <a:prstGeom prst="roundRect">
            <a:avLst>
              <a:gd name="adj" fmla="val 30000"/>
            </a:avLst>
          </a:prstGeom>
          <a:noFill/>
          <a:ln w="1016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口径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7200" y="3873599"/>
            <a:ext cx="2941199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正股趋势判断+股债联动弹性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73200" y="3023999"/>
            <a:ext cx="3643199" cy="16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35199" y="3124799"/>
            <a:ext cx="576000" cy="3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D5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9149" y="3189600"/>
            <a:ext cx="1121250" cy="18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路径统计 · 测算B3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15833" y="3175199"/>
            <a:ext cx="799316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打分人 A线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35199" y="3535199"/>
            <a:ext cx="3319199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流动性与路径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35199" y="3808799"/>
            <a:ext cx="33191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435199" y="3873599"/>
            <a:ext cx="378000" cy="180000"/>
          </a:xfrm>
          <a:prstGeom prst="roundRect">
            <a:avLst>
              <a:gd name="adj" fmla="val 30000"/>
            </a:avLst>
          </a:prstGeom>
          <a:noFill/>
          <a:ln w="1016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口径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56399" y="3873599"/>
            <a:ext cx="2941199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正股回撤+成交中位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2399" y="3023999"/>
            <a:ext cx="3643199" cy="16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204399" y="3124799"/>
            <a:ext cx="576000" cy="32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D6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825095" y="3175199"/>
            <a:ext cx="734504" cy="208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打分人 B4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04399" y="3535199"/>
            <a:ext cx="3319199" cy="27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市场表现预测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04399" y="3808799"/>
            <a:ext cx="33191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8204399" y="3873599"/>
            <a:ext cx="378000" cy="180000"/>
          </a:xfrm>
          <a:prstGeom prst="roundRect">
            <a:avLst>
              <a:gd name="adj" fmla="val 30000"/>
            </a:avLst>
          </a:prstGeom>
          <a:noFill/>
          <a:ln w="1016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7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口径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25599" y="3873599"/>
            <a:ext cx="2941199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bootstrap分布 P50 / P5 / P(亏)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04399" y="4409999"/>
            <a:ext cx="3319199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B线唯一独立维度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3999" y="4662000"/>
            <a:ext cx="11185200" cy="413999"/>
          </a:xfrm>
          <a:prstGeom prst="roundRect">
            <a:avLst>
              <a:gd name="adj" fmla="val 9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19200" y="4780800"/>
            <a:ext cx="486000" cy="180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权重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06000" y="4726800"/>
            <a:ext cx="10404000" cy="28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权重＝全市场799只转债×4.5年面板反推（Fama-MacBeth+秩IC两法互证），剔除本组18只、纯样本外，非人工设定 → 详见合流页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3999" y="51660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条款分析→事件行+红线 ｜ 行业分析→背景页 ｜ 其余八项→六维对应 ｜ B线四件事：数据底座·测算工具·权重来源·市场表现预测（测算归B，打分归A）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3999" y="5436000"/>
            <a:ext cx="11185200" cy="378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1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评分之外一票否决：R1 评级下调 · R2 溢价&gt;100% · R3 到期/样本&lt;120条——没踩红线的叫开放券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04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Header matched to supplied slide 4 3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总 · 开篇</a:t>
            </a:r>
          </a:p>
        </p:txBody>
      </p:sp>
      <p:sp>
        <p:nvSpPr>
          <p:cNvPr id="2" name="Header matched to supplied slide 4 2"/>
          <p:cNvSpPr/>
          <p:nvPr/>
        </p:nvSpPr>
        <p:spPr>
          <a:xfrm>
            <a:off x="1307727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</a:t>
            </a:r>
            <a:r>
              <a:rPr lang="en-US"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0</a:t>
            </a:r>
            <a:r>
              <a:rPr sz="950" b="1" i="0" dirty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 · 70s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91725" y="238877"/>
            <a:ext cx="1695450" cy="34139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03C789B-FFE7-4F9D-943E-EB198CBCB087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1633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六维评价权重：历史数据如何确定占比</a:t>
            </a:r>
          </a:p>
        </p:txBody>
      </p:sp>
      <p:sp>
        <p:nvSpPr>
          <p:cNvPr id="5" name="直接连接符 4">
            <a:extLst>
              <a:ext uri="{FF2B5EF4-FFF2-40B4-BE49-F238E27FC236}">
                <a16:creationId xmlns:a16="http://schemas.microsoft.com/office/drawing/2014/main" id="{8B32825C-84ED-4664-9BB5-CD7EAA6994A5}"/>
              </a:ext>
            </a:extLst>
          </p:cNvPr>
          <p:cNvSpPr>
            <a:spLocks noGrp="1"/>
          </p:cNvSpPr>
          <p:nvPr/>
        </p:nvSpPr>
        <p:spPr>
          <a:xfrm>
            <a:off x="514350" y="990600"/>
            <a:ext cx="1116330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DD7280-3BBA-4922-8C15-455D09A28939}"/>
              </a:ext>
            </a:extLst>
          </p:cNvPr>
          <p:cNvSpPr>
            <a:spLocks noGrp="1"/>
          </p:cNvSpPr>
          <p:nvPr/>
        </p:nvSpPr>
        <p:spPr>
          <a:xfrm>
            <a:off x="514350" y="1076325"/>
            <a:ext cx="111633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E6A61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6E6A61"/>
                </a:solidFill>
                <a:latin typeface="微软雅黑"/>
                <a:ea typeface="微软雅黑"/>
                <a:cs typeface="微软雅黑"/>
              </a:rPr>
              <a:t>六维分数衡量单券表现，历史权重决定各维度在综合分中的占比。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8E8367D1-9CBA-45D1-8AB7-C8A696B87156}"/>
              </a:ext>
            </a:extLst>
          </p:cNvPr>
          <p:cNvSpPr>
            <a:spLocks noGrp="1"/>
          </p:cNvSpPr>
          <p:nvPr/>
        </p:nvSpPr>
        <p:spPr>
          <a:xfrm>
            <a:off x="514350" y="6534150"/>
            <a:ext cx="11163300" cy="0"/>
          </a:xfrm>
          <a:prstGeom prst="line">
            <a:avLst/>
          </a:prstGeom>
          <a:noFill/>
          <a:ln w="9525">
            <a:solidFill>
              <a:srgbClr val="DDD8CC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C797C9A-83F1-49CD-9E8C-8CE57D7BFEB7}"/>
              </a:ext>
            </a:extLst>
          </p:cNvPr>
          <p:cNvSpPr>
            <a:spLocks noGrp="1"/>
          </p:cNvSpPr>
          <p:nvPr/>
        </p:nvSpPr>
        <p:spPr>
          <a:xfrm>
            <a:off x="514350" y="6619875"/>
            <a:ext cx="9525000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zh-CN" altLang="en-US" sz="80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</a:t>
            </a:r>
            <a:r>
              <a:rPr lang="en-US" altLang="zh-CN" sz="80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13</a:t>
            </a:r>
            <a:r>
              <a:rPr lang="zh-CN" altLang="en-US" sz="80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组 </a:t>
            </a:r>
            <a:r>
              <a:rPr lang="en-US" altLang="zh-CN" sz="80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· </a:t>
            </a:r>
            <a:r>
              <a:rPr lang="zh-CN" altLang="en-US" sz="80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        </a:t>
            </a:r>
            <a:r>
              <a:rPr lang="en-US" altLang="zh-CN" sz="80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05 / 36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E84EB86-F936-47BA-B742-7403B811F56A}"/>
              </a:ext>
            </a:extLst>
          </p:cNvPr>
          <p:cNvSpPr>
            <a:spLocks noGrp="1"/>
          </p:cNvSpPr>
          <p:nvPr/>
        </p:nvSpPr>
        <p:spPr>
          <a:xfrm>
            <a:off x="11096625" y="6619875"/>
            <a:ext cx="581025" cy="152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750" b="0">
                <a:solidFill>
                  <a:srgbClr val="6E6A61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0">
                <a:solidFill>
                  <a:srgbClr val="6E6A61"/>
                </a:solidFill>
                <a:latin typeface="微软雅黑"/>
                <a:ea typeface="微软雅黑"/>
                <a:cs typeface="微软雅黑"/>
              </a:rPr>
              <a:t>样张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C0953E-9E4C-46D7-BE6C-33BFA84BC86F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11163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799只底层转债    43个月末截面    每月约399只有效样本    剔除本组18券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125AAB-E595-46E9-AC9E-3D38A81FF024}"/>
              </a:ext>
            </a:extLst>
          </p:cNvPr>
          <p:cNvSpPr>
            <a:spLocks noGrp="1"/>
          </p:cNvSpPr>
          <p:nvPr/>
        </p:nvSpPr>
        <p:spPr>
          <a:xfrm>
            <a:off x="514350" y="1952625"/>
            <a:ext cx="2762250" cy="1123950"/>
          </a:xfrm>
          <a:prstGeom prst="rect">
            <a:avLst/>
          </a:prstGeom>
          <a:solidFill>
            <a:srgbClr val="EEF2F8"/>
          </a:solidFill>
          <a:ln w="9525">
            <a:solidFill>
              <a:srgbClr val="C3CFE2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B97C90-1716-4EA7-BC8E-1B9258F17723}"/>
              </a:ext>
            </a:extLst>
          </p:cNvPr>
          <p:cNvSpPr>
            <a:spLocks noGrp="1"/>
          </p:cNvSpPr>
          <p:nvPr/>
        </p:nvSpPr>
        <p:spPr>
          <a:xfrm>
            <a:off x="647700" y="2038350"/>
            <a:ext cx="24955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历史输入与收益标签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25F0EA5-20FC-4C4D-B124-6D82F3484EAF}"/>
              </a:ext>
            </a:extLst>
          </p:cNvPr>
          <p:cNvSpPr>
            <a:spLocks noGrp="1"/>
          </p:cNvSpPr>
          <p:nvPr/>
        </p:nvSpPr>
        <p:spPr>
          <a:xfrm>
            <a:off x="647700" y="2295525"/>
            <a:ext cx="2495550" cy="752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8项特征去极值、标准化</a:t>
            </a:r>
          </a:p>
          <a:p>
            <a:pPr>
              <a:def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标签：未来120日收益</a:t>
            </a:r>
          </a:p>
          <a:p>
            <a:pPr>
              <a:def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回撤触及−15%时记为−15%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FF5FA6-A62C-4124-BB1D-F0E3C494BCAE}"/>
              </a:ext>
            </a:extLst>
          </p:cNvPr>
          <p:cNvSpPr>
            <a:spLocks noGrp="1"/>
          </p:cNvSpPr>
          <p:nvPr/>
        </p:nvSpPr>
        <p:spPr>
          <a:xfrm>
            <a:off x="3895725" y="1771650"/>
            <a:ext cx="3438525" cy="638175"/>
          </a:xfrm>
          <a:prstGeom prst="rect">
            <a:avLst/>
          </a:prstGeom>
          <a:solidFill>
            <a:srgbClr val="EEF2F8"/>
          </a:solidFill>
          <a:ln w="9525">
            <a:solidFill>
              <a:srgbClr val="C3CFE2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699B5B-7DCD-4510-9204-94C00A394DF4}"/>
              </a:ext>
            </a:extLst>
          </p:cNvPr>
          <p:cNvSpPr>
            <a:spLocks noGrp="1"/>
          </p:cNvSpPr>
          <p:nvPr/>
        </p:nvSpPr>
        <p:spPr>
          <a:xfrm>
            <a:off x="4029075" y="1857375"/>
            <a:ext cx="31718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Fama–MacBeth 月度截面回归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905BA7-90BF-4992-96B6-4A9C68A3F10A}"/>
              </a:ext>
            </a:extLst>
          </p:cNvPr>
          <p:cNvSpPr>
            <a:spLocks noGrp="1"/>
          </p:cNvSpPr>
          <p:nvPr/>
        </p:nvSpPr>
        <p:spPr>
          <a:xfrm>
            <a:off x="4029075" y="2114550"/>
            <a:ext cx="31718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平均系数取绝对值，再归一化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C3B4E37-5738-41BB-903E-67DFD45EFDE4}"/>
              </a:ext>
            </a:extLst>
          </p:cNvPr>
          <p:cNvSpPr>
            <a:spLocks noGrp="1"/>
          </p:cNvSpPr>
          <p:nvPr/>
        </p:nvSpPr>
        <p:spPr>
          <a:xfrm>
            <a:off x="3895725" y="2609850"/>
            <a:ext cx="3438525" cy="638175"/>
          </a:xfrm>
          <a:prstGeom prst="rect">
            <a:avLst/>
          </a:prstGeom>
          <a:solidFill>
            <a:srgbClr val="EEF2F8"/>
          </a:solidFill>
          <a:ln w="9525">
            <a:solidFill>
              <a:srgbClr val="C3CFE2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F098A0-5A3D-4CD2-9FE8-3594E8ADA155}"/>
              </a:ext>
            </a:extLst>
          </p:cNvPr>
          <p:cNvSpPr>
            <a:spLocks noGrp="1"/>
          </p:cNvSpPr>
          <p:nvPr/>
        </p:nvSpPr>
        <p:spPr>
          <a:xfrm>
            <a:off x="4029075" y="2695575"/>
            <a:ext cx="31718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RankIC／ICIR 秩相关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517D978-6940-4FCF-B663-22C3369E786D}"/>
              </a:ext>
            </a:extLst>
          </p:cNvPr>
          <p:cNvSpPr>
            <a:spLocks noGrp="1"/>
          </p:cNvSpPr>
          <p:nvPr/>
        </p:nvSpPr>
        <p:spPr>
          <a:xfrm>
            <a:off x="4029075" y="2952750"/>
            <a:ext cx="31718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ICIR取正部，再归一化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647CAF-7270-46FF-BF9C-688033E5F8C6}"/>
              </a:ext>
            </a:extLst>
          </p:cNvPr>
          <p:cNvSpPr>
            <a:spLocks noGrp="1"/>
          </p:cNvSpPr>
          <p:nvPr/>
        </p:nvSpPr>
        <p:spPr>
          <a:xfrm>
            <a:off x="8315325" y="2133600"/>
            <a:ext cx="3362325" cy="847725"/>
          </a:xfrm>
          <a:prstGeom prst="rect">
            <a:avLst/>
          </a:prstGeom>
          <a:solidFill>
            <a:srgbClr val="EEF2F8"/>
          </a:solidFill>
          <a:ln w="9525">
            <a:solidFill>
              <a:srgbClr val="C3CFE2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8CA6F07-BBC4-41A1-82F7-CE7EA1F7281A}"/>
              </a:ext>
            </a:extLst>
          </p:cNvPr>
          <p:cNvSpPr>
            <a:spLocks noGrp="1"/>
          </p:cNvSpPr>
          <p:nvPr/>
        </p:nvSpPr>
        <p:spPr>
          <a:xfrm>
            <a:off x="8448675" y="2219325"/>
            <a:ext cx="309562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六维参考权重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7EFDED-1F42-484A-A56E-A8C6E3B7C187}"/>
              </a:ext>
            </a:extLst>
          </p:cNvPr>
          <p:cNvSpPr>
            <a:spLocks noGrp="1"/>
          </p:cNvSpPr>
          <p:nvPr/>
        </p:nvSpPr>
        <p:spPr>
          <a:xfrm>
            <a:off x="8448675" y="2476500"/>
            <a:ext cx="30956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两分支各占50%，按D1–D6加总</a:t>
            </a:r>
          </a:p>
          <a:p>
            <a:pPr>
              <a:def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用于后续18券的综合评分</a:t>
            </a:r>
          </a:p>
        </p:txBody>
      </p:sp>
      <p:cxnSp>
        <p:nvCxnSpPr>
          <p:cNvPr id="53" name="连接符: 肘形 52"/>
          <p:cNvCxnSpPr>
            <a:stCxn id="11" idx="3"/>
            <a:endCxn id="14" idx="1"/>
          </p:cNvCxnSpPr>
          <p:nvPr/>
        </p:nvCxnSpPr>
        <p:spPr>
          <a:xfrm flipV="1">
            <a:off x="3276600" y="2090738"/>
            <a:ext cx="619125" cy="423863"/>
          </a:xfrm>
          <a:prstGeom prst="bentConnector3">
            <a:avLst>
              <a:gd name="adj1" fmla="val 50000"/>
            </a:avLst>
          </a:prstGeom>
          <a:ln w="13335">
            <a:solidFill>
              <a:srgbClr val="002060"/>
            </a:solidFill>
            <a:tailEnd type="triangle" w="sm" len="sm"/>
          </a:ln>
        </p:spPr>
      </p:cxnSp>
      <p:cxnSp>
        <p:nvCxnSpPr>
          <p:cNvPr id="54" name="连接符: 肘形 53"/>
          <p:cNvCxnSpPr>
            <a:stCxn id="11" idx="3"/>
            <a:endCxn id="17" idx="1"/>
          </p:cNvCxnSpPr>
          <p:nvPr/>
        </p:nvCxnSpPr>
        <p:spPr>
          <a:xfrm>
            <a:off x="3276600" y="2514600"/>
            <a:ext cx="619125" cy="414338"/>
          </a:xfrm>
          <a:prstGeom prst="bentConnector3">
            <a:avLst>
              <a:gd name="adj1" fmla="val 50000"/>
            </a:avLst>
          </a:prstGeom>
          <a:ln w="13335">
            <a:solidFill>
              <a:srgbClr val="002060"/>
            </a:solidFill>
            <a:tailEnd type="triangle" w="sm" len="sm"/>
          </a:ln>
        </p:spPr>
      </p:cxnSp>
      <p:cxnSp>
        <p:nvCxnSpPr>
          <p:cNvPr id="55" name="连接符: 肘形 54"/>
          <p:cNvCxnSpPr>
            <a:stCxn id="14" idx="3"/>
            <a:endCxn id="20" idx="1"/>
          </p:cNvCxnSpPr>
          <p:nvPr/>
        </p:nvCxnSpPr>
        <p:spPr>
          <a:xfrm>
            <a:off x="7334250" y="2090738"/>
            <a:ext cx="981075" cy="466725"/>
          </a:xfrm>
          <a:prstGeom prst="bentConnector3">
            <a:avLst>
              <a:gd name="adj1" fmla="val 50000"/>
            </a:avLst>
          </a:prstGeom>
          <a:ln w="13335">
            <a:solidFill>
              <a:srgbClr val="002060"/>
            </a:solidFill>
            <a:tailEnd type="triangle" w="sm" len="sm"/>
          </a:ln>
        </p:spPr>
      </p:cxnSp>
      <p:cxnSp>
        <p:nvCxnSpPr>
          <p:cNvPr id="56" name="连接符: 肘形 55"/>
          <p:cNvCxnSpPr>
            <a:stCxn id="17" idx="3"/>
            <a:endCxn id="20" idx="1"/>
          </p:cNvCxnSpPr>
          <p:nvPr/>
        </p:nvCxnSpPr>
        <p:spPr>
          <a:xfrm flipV="1">
            <a:off x="7334250" y="2557463"/>
            <a:ext cx="981075" cy="371475"/>
          </a:xfrm>
          <a:prstGeom prst="bentConnector3">
            <a:avLst>
              <a:gd name="adj1" fmla="val 50000"/>
            </a:avLst>
          </a:prstGeom>
          <a:ln w="13335">
            <a:solidFill>
              <a:srgbClr val="002060"/>
            </a:solidFill>
            <a:tailEnd type="triangle" w="sm" len="sm"/>
          </a:ln>
        </p:spPr>
      </p:cxnSp>
      <p:graphicFrame>
        <p:nvGraphicFramePr>
          <p:cNvPr id="57" name="表格 56"/>
          <p:cNvGraphicFramePr/>
          <p:nvPr/>
        </p:nvGraphicFramePr>
        <p:xfrm>
          <a:off x="514350" y="3390900"/>
          <a:ext cx="11163300" cy="2266950"/>
        </p:xfrm>
        <a:graphic>
          <a:graphicData uri="http://schemas.openxmlformats.org/drawingml/2006/table">
            <a:tbl>
              <a:tblPr/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00206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评分维度</a:t>
                      </a:r>
                    </a:p>
                  </a:txBody>
                  <a:tcPr marL="95250" marR="95250" marT="0" marB="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00206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历史赋权代理</a:t>
                      </a:r>
                    </a:p>
                  </a:txBody>
                  <a:tcPr marL="95250" marR="95250" marT="0" marB="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00206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FM分支</a:t>
                      </a:r>
                    </a:p>
                  </a:txBody>
                  <a:tcPr marL="95250" marR="95250" marT="0" marB="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00206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IC分支</a:t>
                      </a:r>
                    </a:p>
                  </a:txBody>
                  <a:tcPr marL="95250" marR="95250" marT="0" marB="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00206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最终展示</a:t>
                      </a:r>
                    </a:p>
                  </a:txBody>
                  <a:tcPr marL="95250" marR="95250" marT="0" marB="0" anchor="ctr">
                    <a:solidFill>
                      <a:srgbClr val="F4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D1 经营与信用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评级序数、权益／资产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15.20%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9.97%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13%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D2 估值可兑现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负转股溢价率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4.54%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0.00%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D3 债底保护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保本价／市价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48.75%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46.96%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D4 正股走势与联动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β × 相关系数ρ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5.35%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9.40%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D5 流动性与路径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20日回撤、对数换手率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21.99%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24.37%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23%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D6 市场表现预测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负历史损失频率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4.17%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9.31%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2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7%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矩形 27">
            <a:extLst>
              <a:ext uri="{FF2B5EF4-FFF2-40B4-BE49-F238E27FC236}">
                <a16:creationId xmlns:a16="http://schemas.microsoft.com/office/drawing/2014/main" id="{92C58886-0A15-4813-8158-0F08F7F348C9}"/>
              </a:ext>
            </a:extLst>
          </p:cNvPr>
          <p:cNvSpPr>
            <a:spLocks noGrp="1"/>
          </p:cNvSpPr>
          <p:nvPr/>
        </p:nvSpPr>
        <p:spPr>
          <a:xfrm>
            <a:off x="514350" y="5762625"/>
            <a:ext cx="111633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D3算例： （48.75% + 46.96%）÷ 2 = 47.86%，展示为48%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AB159FD-8D39-45A1-96C2-C1E4EBEE9E17}"/>
              </a:ext>
            </a:extLst>
          </p:cNvPr>
          <p:cNvSpPr>
            <a:spLocks noGrp="1"/>
          </p:cNvSpPr>
          <p:nvPr/>
        </p:nvSpPr>
        <p:spPr>
          <a:xfrm>
            <a:off x="514350" y="6086475"/>
            <a:ext cx="111633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23" b="0">
                <a:solidFill>
                  <a:srgbClr val="6E6A61"/>
                </a:solidFill>
                <a:latin typeface="微软雅黑"/>
                <a:ea typeface="微软雅黑"/>
                <a:cs typeface="微软雅黑"/>
              </a:defRPr>
            </a:pPr>
            <a:r>
              <a:rPr sz="923" b="0">
                <a:solidFill>
                  <a:srgbClr val="6E6A61"/>
                </a:solidFill>
                <a:latin typeface="微软雅黑"/>
                <a:ea typeface="微软雅黑"/>
                <a:cs typeface="微软雅黑"/>
              </a:rPr>
              <a:t>权重为本期参考。t值用于诊断，券池隔离不等于时间样本外验证，历史代理与单券打分输入有差别。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21C1953-EC63-44AB-8CD8-FD712725FEF0}"/>
              </a:ext>
            </a:extLst>
          </p:cNvPr>
          <p:cNvSpPr>
            <a:spLocks noGrp="1"/>
          </p:cNvSpPr>
          <p:nvPr/>
        </p:nvSpPr>
        <p:spPr>
          <a:xfrm>
            <a:off x="514350" y="6315075"/>
            <a:ext cx="11163300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4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defRPr>
            </a:pPr>
            <a:r>
              <a:rPr sz="1140" b="1">
                <a:solidFill>
                  <a:srgbClr val="002060"/>
                </a:solidFill>
                <a:latin typeface="微软雅黑"/>
                <a:ea typeface="微软雅黑"/>
                <a:cs typeface="微软雅黑"/>
              </a:rPr>
              <a:t>接下来：A线展开公司与信用研究，B线提供测算与预测，结尾合成评分并落实行动条件。</a:t>
            </a:r>
          </a:p>
        </p:txBody>
      </p:sp>
    </p:spTree>
    <p:extLst>
      <p:ext uri="{BB962C8B-B14F-4D97-AF65-F5344CB8AC3E}">
        <p14:creationId xmlns:p14="http://schemas.microsoft.com/office/powerpoint/2010/main" val="132949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A1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18只券，不是一个行业，是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六种生意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轻工制造 12 只 + 家用电器 6 只，按需求机制分四组：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3999" y="1278000"/>
            <a:ext cx="5500800" cy="199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3999" y="1278000"/>
            <a:ext cx="55008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7999" y="1404000"/>
            <a:ext cx="378000" cy="378000"/>
          </a:xfrm>
          <a:prstGeom prst="roundRect">
            <a:avLst>
              <a:gd name="adj" fmla="val 12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999" y="1429200"/>
            <a:ext cx="3952800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地产链：定制家居/陶瓷/木门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55164" y="1429200"/>
            <a:ext cx="405635" cy="19800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999" y="1908000"/>
            <a:ext cx="478052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欧22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6052" y="1908000"/>
            <a:ext cx="478052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金23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84105" y="1908000"/>
            <a:ext cx="480719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志邦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54825" y="1908000"/>
            <a:ext cx="480719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蒙娜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5544" y="1908000"/>
            <a:ext cx="480719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帝欧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96264" y="1908000"/>
            <a:ext cx="743626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江山</a:t>
            </a:r>
            <a:r>
              <a:rPr sz="7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(木门)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999" y="2934000"/>
            <a:ext cx="52127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999" y="2980800"/>
            <a:ext cx="5212799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看什么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：装修需求与回款、应收与减值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4800" y="1278000"/>
            <a:ext cx="5500800" cy="199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4800" y="1278000"/>
            <a:ext cx="55008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28799" y="1404000"/>
            <a:ext cx="378000" cy="378000"/>
          </a:xfrm>
          <a:prstGeom prst="roundRect">
            <a:avLst>
              <a:gd name="adj" fmla="val 12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6800" y="1429200"/>
            <a:ext cx="3952800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纸与包装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135964" y="1429200"/>
            <a:ext cx="405635" cy="19800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4只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8799" y="1908000"/>
            <a:ext cx="480719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特纸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99519" y="1908000"/>
            <a:ext cx="480719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永吉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70239" y="1908000"/>
            <a:ext cx="480719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艾录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0959" y="1908000"/>
            <a:ext cx="945569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嘉益</a:t>
            </a:r>
            <a:r>
              <a:rPr sz="7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(器皿出口)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28799" y="2934000"/>
            <a:ext cx="52127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28799" y="2980800"/>
            <a:ext cx="5212799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看什么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：产能投放、原料成本、出口订单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3999" y="3420000"/>
            <a:ext cx="5500800" cy="199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3999" y="3420000"/>
            <a:ext cx="55008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7999" y="3546000"/>
            <a:ext cx="378000" cy="378000"/>
          </a:xfrm>
          <a:prstGeom prst="roundRect">
            <a:avLst>
              <a:gd name="adj" fmla="val 12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999" y="3571200"/>
            <a:ext cx="3952800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出口制造与海外仓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55164" y="3571200"/>
            <a:ext cx="405635" cy="19800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7999" y="4050000"/>
            <a:ext cx="844597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乐歌</a:t>
            </a:r>
            <a:r>
              <a:rPr sz="7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(海外仓)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82597" y="4050000"/>
            <a:ext cx="926517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莱克</a:t>
            </a:r>
            <a:r>
              <a:rPr sz="7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(ODM出口)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7999" y="5076000"/>
            <a:ext cx="52127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999" y="5122800"/>
            <a:ext cx="5212799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看什么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：汇率、海运、海外需求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84800" y="3420000"/>
            <a:ext cx="5500800" cy="199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184800" y="3420000"/>
            <a:ext cx="55008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328799" y="3546000"/>
            <a:ext cx="378000" cy="378000"/>
          </a:xfrm>
          <a:prstGeom prst="roundRect">
            <a:avLst>
              <a:gd name="adj" fmla="val 12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6800" y="3571200"/>
            <a:ext cx="3952800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清洁电器/厨电/小家电/压缩机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135964" y="3571200"/>
            <a:ext cx="405635" cy="198000"/>
          </a:xfrm>
          <a:prstGeom prst="roundRect">
            <a:avLst>
              <a:gd name="adj" fmla="val 50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6只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28799" y="4050000"/>
            <a:ext cx="480719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科沃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99519" y="4050000"/>
            <a:ext cx="480719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火星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70239" y="4050000"/>
            <a:ext cx="480719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亿田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0959" y="4050000"/>
            <a:ext cx="480719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小熊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611679" y="4050000"/>
            <a:ext cx="478052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翔26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79731" y="4050000"/>
            <a:ext cx="743626" cy="223200"/>
          </a:xfrm>
          <a:prstGeom prst="roundRect">
            <a:avLst>
              <a:gd name="adj" fmla="val 12000"/>
            </a:avLst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海顺</a:t>
            </a:r>
            <a:r>
              <a:rPr sz="7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(药包)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28799" y="5076000"/>
            <a:ext cx="52127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328799" y="5122800"/>
            <a:ext cx="5212799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看什么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：新品周期、国补基数、客户结构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3999" y="5616000"/>
            <a:ext cx="11185200" cy="432000"/>
          </a:xfrm>
          <a:prstGeom prst="rect">
            <a:avLst/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03999" y="5616000"/>
            <a:ext cx="43200" cy="432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66000" y="5659200"/>
            <a:ext cx="10861200" cy="34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行业决定分析哪些指标，不直接决定买卖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；不把单家公司情况外推为行业统计。接下来A组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6位同学每人讲3只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0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A1 · 35s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特纸：增长是真的，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杠杆也是真的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产能翻倍的账，最后谁来付？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特种纸及包装纸｜湖北产线释放带动机制纸销量增长；木浆系与废纸系需求不同，不能拿整个轻工景气代替具体纸种。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25.3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0.821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-12.8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-5.0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+18.8%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+2.26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+1.06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3.93 / 45.32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73.3%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29786" y="2635200"/>
            <a:ext cx="1315413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综合 5.61 · 开放 #1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正向，但约束在融资端——权重合成开放券第1，树差-5.0%说明不便宜 → 等待。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销量与扣非同步增长、AA评级维持——约束在融资，不在经营。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下修及赎回属发行人决策，不能把扩产故事转换成必然下修预期。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0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7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A1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永吉：归母为正，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扣非为亏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金融资产的浮盈，能当主业利润吗？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精品包装与境外管制药品｜烟标业务战略出清，境外管制药品业务增长。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44.4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0.687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-19.3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-13.0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800" y="2221200"/>
            <a:ext cx="24084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全池最深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-16.7%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-0.25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+0.69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1.49 / 0.75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37.9%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29786" y="2635200"/>
            <a:ext cx="1315413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综合 2.92 · 开放 #6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利润靠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金融资产浮盈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、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盈利质量存疑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，负向 → 开放#6、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综合分垫底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AA-维持、经营现金0.69亿为正、杠杆不高。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2026-02-06公告不提前赎回——触发后主动关闸，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博弈空间收窄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0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8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A1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艾录：修复有据，但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评级降到A就是硬约束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修复的利润，兑得回信用吗？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工业消费包装与光伏新材料｜关注老业务产能消化与新业务商业化。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88.1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0.840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-2.5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-8.1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+14.4%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+0.14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+0.38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1.61 / 1.23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52.9%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中性，修复有证据但信用受限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R1评级下调红线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（2026年A，自A+下调，已核实）。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现金1.61亿略高于短借1.23亿——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缓冲存在但薄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关注一年内到期0.40亿的续接安排。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0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9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A2 · 35s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欧22：还在赚钱，但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已经不回款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龙头的利润，为什么现金只剩零头？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定制家居龙头｜组织与渠道改革应对地产与消费调整。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95.2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0.895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-2.8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-8.0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-27.8%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+3.61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+0.92 亿</a:t>
                      </a:r>
                      <a:r>
                        <a:rPr sz="7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 （上年16.67亿，降94%）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47.23 / 50.94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42.2%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BF3F3"/>
          </a:solidFill>
          <a:ln w="1397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29786" y="2635200"/>
            <a:ext cx="1315413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综合 5.12 · 开放 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中性偏负经营、信用有缓冲 → 权重合成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开放#2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，但树差-8.0%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价格补偿不足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4000" y="3646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6000" y="3690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6000" y="3898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AA维持、资金厚——是弱化不是危机。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4000" y="42516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6000" y="42948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同组对照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6000" y="45036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江山收缩赊销、志邦亏损——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地产链现金问题一致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84000" y="48564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46000" y="48996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6000" y="51084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2026-06-09公告不下修——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下修博弈期权关闭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</a:t>
            </a:r>
            <a:r>
              <a:rPr lang="en-US" sz="90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10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A2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江山：主动收缩赊销，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集中兑付压力仍在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回售公告，为什么就落在9月？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木门及整装｜主动收缩直营欠款业务、提高款清占比。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99.4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0.999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+3.1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-0.1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-49.8%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-1.10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-1.25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2.61 / 0.01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62.1%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负向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R1评级下调红线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（A，自AA-下调）。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2026-09-18回售结果公告；2026-05-25公告不下修。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对照价值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信用红线直接出局，但同业对照价值大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——地产链都在过现金关；现金2.61亿不能直接覆盖6.49亿债券账面负债（期限不同且还有理财）。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1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1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A2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志邦：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亏损未止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，海外整装是唯一亮点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AA评级，为什么救不了条款？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定制家居｜半年报称首次上半年亏损，国内零售与大宗调整。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113.6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0.817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-1.2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-10.3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-22.9%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-1.71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-1.95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6.28 / 3.96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50.7%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负向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R2溢价&gt;100%红线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（转股溢价率113.6%）。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AA维持，但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评级不能覆盖现金流负证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2026-08-04公告不下修——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条款博弈也帮不上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1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A3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蒙娜：现金覆盖短借，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修复有条件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AA-的缓冲，是真的吗？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建筑陶瓷｜需求受地产拖累，加强经销与精益管理。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110.0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0.963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7600" y="2221200"/>
            <a:ext cx="24084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全池前列 · 真债底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-1.1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-0.8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-8.7%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+0.50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+1.82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15.46 / 3.22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46.0%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中性偏正、修复有条件 → 但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R2溢价红线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：半年内正股要涨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一倍还多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才够兑现。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现金改善含订货保证金贡献——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剔除后覆盖仍成立，但成色打折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债底覆盖0.963全池前列——真债底，触发过回售保护机制。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1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3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A3 · 35s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帝欧 vs 蒙娜：同一个行业，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信用两极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为什么一个是 AA-，一个是 BBB+？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建筑陶瓷与卫浴｜瓷砖卫浴占主体；AI业务H1收入11.85万元、占比0.01%——转型叙事不能当已兑现的第二曲线。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1.5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0.864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-10.2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+13.8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800" y="2221200"/>
            <a:ext cx="24084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全池最高 · 便宜正是风险的定价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-18.9%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-0.77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+1.37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7.67 / 9.43 亿</a:t>
                      </a:r>
                      <a:r>
                        <a:rPr sz="7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 （现金不抵短借）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59.6%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负向信用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R1评级下调红线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（A-降至BBB+）；市场只给1.5%溢价、树差+13.8%全池最高——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便宜正是信用风险的定价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经营现金1.37亿转正、亏损收窄、转股减债——改善存在，偿债能力未证；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改判条件：扣非持续盈利+融资改善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9月仅是"可能赎回"提示，未完成15日触发、未到强赎决议。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1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4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A3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金23：亏损加深，且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承诺不下修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债底安全，等于值得买吗？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定制厨柜与家居｜第三曲线仍在探索，不把访问量当盈利兑现。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187.9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99" y="2221200"/>
            <a:ext cx="24084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最高档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0.895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-1.2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-9.9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-19.4%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-1.43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-2.38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5.75 / 4.92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54.1%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负向，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三条负面叠加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R2溢价红线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2026-07-11公告不下修——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条款期权也关了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AA维持；但首次亏损与融资增加需要重新观察；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覆盖0.9只是债底安全，不是弹性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1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5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A4 · 35s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海顺：利润总额为正，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税把它打成亏损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"经营亏损"，是误读吗？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药用包装与高性能材料｜药包主业并拓新能源新消费；收入增长含正一包装并表，不全是有机增长。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35.8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0.848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-3.4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+4.9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800" y="2221200"/>
            <a:ext cx="24084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非红线券最高 · 补偿入围的关键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3999" y="2790000"/>
          <a:ext cx="4536000" cy="183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+19.6%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-0.15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+0.14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3.87 / 1.72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45.6%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03999" y="4669200"/>
            <a:ext cx="4536000" cy="69480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4800" y="4719600"/>
            <a:ext cx="4334400" cy="5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拆账　</a:t>
            </a:r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利润总额+510万，所得税1652万——其中递延税924万来自股权处置——归母被打成-1600万；毛利率22.3%降到20.7%需跟踪。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BF3F3"/>
          </a:solidFill>
          <a:ln w="1397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856304" y="2635200"/>
            <a:ext cx="688895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有限买入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38232" y="2635200"/>
            <a:ext cx="564072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开放#5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24141" y="2635200"/>
            <a:ext cx="660090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综合4.79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中性、修复未证实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补偿入围#1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：树差+4.9%为非红线券最高，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有限买入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84000" y="3646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46000" y="3690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6000" y="3898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现金3.87亿对短借1.72亿缓冲真实；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药包准入与客户黏性是实的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1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A4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乐歌：20天后到期，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六个月框架外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到期兑付，是机会吗？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人体工学产品与海外仓｜现金流与汇率/海外资产风险必须一起看。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253.1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0.999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+2.0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200" y="2221200"/>
            <a:ext cx="24084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持有至到期口径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-0.1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+1.1%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+0.03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+2.47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12.53 / 4.20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61.7%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中性偏负、期限约束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R3期内到期红线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（2026-10-20到期），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框架外单列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到期按合同兑付额结算；顺带验证了现金流核验——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YTM转正至+2.0%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A+维持、经营现金2.47亿不差；现金类资产需考虑海外币种与资金限制。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1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7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A4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嘉益：现金正循环，但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171%的溢价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预支了几年利润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好公司，为什么不在推荐池？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保温器皿出口制造｜客户品牌动销、订单与美元汇率关键；越南产能盈利是子公司口径，不能直接当合并利润。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171.0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0.860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-0.4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-7.7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-26.1%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+1.60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+1.04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2.76 / 0.51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30.7%</a:t>
                      </a:r>
                      <a:r>
                        <a:rPr sz="7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 （全池最低档）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中性偏正信用、经营承压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R2溢价红线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：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价格已预支多年利润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A+维持；现价已计入较高期权价值，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条款上无额外博弈点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A+维持、低杠杆；关键变量在客户品牌动销与美元汇率。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1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8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A5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科沃：经营全池最优，但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286%的溢价无法兑现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好公司，为什么回避？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清洁机器人及智能电器｜科沃斯+添可两品牌贡献98.11%收入；零部件成本与库存备货有压力。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286.0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999" y="2221200"/>
            <a:ext cx="539807" cy="151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7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全池最高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0.968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+0.4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-3.2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+19.2%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+8.05 亿</a:t>
                      </a:r>
                      <a:r>
                        <a:rPr sz="7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 （全池最高）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+2.06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56.37 / 0.01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48.0%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24479" y="2635200"/>
            <a:ext cx="1168985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综合6.04全池最高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正向、现金转化约束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R2溢价红线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：正股要涨286%才够转股价值追平债价；而β0.07意味着连"涨"都传不进债价（B2将验证）。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债底0.968、YTM转正——债性十足，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恰是期权太贵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协作注脚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B2的β检验将在后面回应这个判断——</a:t>
            </a: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好公司≠好转债的数字版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1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9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A5 · 35s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莱克：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汇兑吞掉利润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，现金要另算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扣非只剩500万，公司缺钱吗？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家电ODM、自主品牌及核心零部件｜海外产能迁移、关税与毛利承压。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35.8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0.818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-6.6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+2.7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800" y="2221200"/>
            <a:ext cx="24084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补偿入围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3999" y="2790000"/>
          <a:ext cx="4536000" cy="183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-2.6%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+0.05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+4.36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49.84 / 72.51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66.3%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03999" y="4669200"/>
            <a:ext cx="4536000" cy="694800"/>
          </a:xfrm>
          <a:prstGeom prst="roundRect">
            <a:avLst>
              <a:gd name="adj" fmla="val 8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4800" y="4719600"/>
            <a:ext cx="4334400" cy="59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拆账　</a:t>
            </a:r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3.89亿汇兑损失把扣非打到只剩500万；剔除汇兑同比仍降16.3%；现金另算——货基49.84亿+存单49.11亿+未用授信122亿，缓冲厚，但短借72.51亿也大。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BF3F3"/>
          </a:solidFill>
          <a:ln w="1397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10752" y="2635200"/>
            <a:ext cx="434447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等待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92679" y="2635200"/>
            <a:ext cx="564072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开放#3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78589" y="2635200"/>
            <a:ext cx="660090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综合5.07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中性、汇兑承压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补偿入围#2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：树差+2.7%，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等待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毛利率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≥21.0%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+ 业务资金匹配 + 动态价格通过。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存单与未用授信122亿提供缓冲；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汇率敞口与存单期限是保留风险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</a:t>
            </a:r>
            <a:r>
              <a:rPr lang="en-US" sz="90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20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A5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翔26：上市太短——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不是不好，是没法评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61条报价，能建模吗？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家电压缩机及机械铸件｜销量增长来自工程机械与精密件，不按终端家电品牌理解。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78.4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0.709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7600" y="2221200"/>
            <a:ext cx="24084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全池第三低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-2.7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-7.1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+11.6%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+2.19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-0.90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17.35 / 0.00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41.5%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中性偏正经营、现金有约束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R3样本红线单列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：上市3个月、报价仅61条，不足120日窗口。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对照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给同组莱克做对照——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收入增长要看到回款才算数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；不硬凑长期检验，参数化处理。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AA-维持；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不把募集资金现金增加当经营生成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2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1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A6 · 35s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亿田：算力在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亏钱做收入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181.6元的债价，买的是什么？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集成灶与算力服务｜H1算力收入2329.81万元、毛利率-37.97%——第二曲线在亏钱做收入。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20.9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0.593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7600" y="2221200"/>
            <a:ext cx="24084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全池最低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-12.4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+12.5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6800" y="2221200"/>
            <a:ext cx="24084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7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贵得有原因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-52.9%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-0.64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-0.30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5.51 / 0.00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45.7%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负向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R1评级下调红线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（AA-降至A+）+ 9月已触发强赎条款，仅承诺2026-09-24至12-23不赎回——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不覆盖六个月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84000" y="3646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46000" y="3690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6000" y="3898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亏损与现金流出收窄；近20日中位成交43.4万手——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流动性是真的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2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A6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火星：集成灶下行，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评级随之下调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灶具链的第二只负向券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集成灶厨电｜前装属性受新房装修与竞争压力；跨界投资仍需盈利兑现。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93.3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0.912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-1.8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+1.5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-27.6%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-1.36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-1.30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3.48 / 1.50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51.7%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47465" y="2635200"/>
            <a:ext cx="897734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红线券 · R1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负向 →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R1评级下调红线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（A+，自AA-下调，已核实）。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4000" y="3664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6000" y="3708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对照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6000" y="3916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与亿田同属灶具链，量价齐跌；溢价93%未到红线，但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经营与信用双弱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84000" y="4330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46000" y="4374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6000" y="4582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现金与理财缓冲存在；但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经营持续流出、融资需求增加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2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3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 · A线 基本面与信用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7869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A6 · 25s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小熊：各项都及格，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差在没有一项突出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1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各项及格，为什么进不了推荐池？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99" y="12312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厨房生活小家电｜线上渠道与产品迭代为基础，不同于集成灶前装需求。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3999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999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999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转股溢价率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55.1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36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36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76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76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0.878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2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63200" y="1458000"/>
            <a:ext cx="26964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72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YTM（税费前）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72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-3.7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2800" y="145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92800" y="1458000"/>
            <a:ext cx="2696400" cy="32400"/>
          </a:xfrm>
          <a:prstGeom prst="rect">
            <a:avLst/>
          </a:prstGeom>
          <a:solidFill>
            <a:srgbClr val="5A6B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6800" y="1537199"/>
            <a:ext cx="2408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树差（树参考-市价）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6800" y="1738800"/>
            <a:ext cx="2408400" cy="48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-9.2</a:t>
            </a:r>
            <a:r>
              <a:rPr sz="1300" b="1" i="0">
                <a:solidFill>
                  <a:srgbClr val="5A6B88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2538000"/>
            <a:ext cx="453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财务速览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3999" y="2790000"/>
          <a:ext cx="4536000" cy="23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4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收入同比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-7.3%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扣非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+1.09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经营现金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+2.04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货币资金/短借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17.54 / 0.00 亿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资产负债率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44.2%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184000" y="2538000"/>
            <a:ext cx="6505200" cy="1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6000" y="2628000"/>
            <a:ext cx="162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A线判断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01800" y="2635200"/>
            <a:ext cx="1243399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综合4.90 · 开放#4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6000" y="2880000"/>
            <a:ext cx="61812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中性偏正信用、利润承压 → 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开放#4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，差补偿门槛一步——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没有树差≥0的模型补偿，就不进推荐池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84000" y="3646800"/>
            <a:ext cx="65052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6000" y="3690000"/>
            <a:ext cx="162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反证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6000" y="3898800"/>
            <a:ext cx="6181200" cy="41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现金生成相对稳定；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受限现金2.68亿不能当自由现金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3999" y="552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3999" y="552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6000" y="558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2000" y="558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经营/信用 → D1 ｜ 溢价/树差 → D2 ｜ 债底 → D3 ｜ 回撤与成交 → D5 ｜ 红线单独判定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2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4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分 · B线 量化与市场验证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27118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B1 · 45s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数据底座：数据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错一天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，定价就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错一截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A线讲完公司，现在轮到数据说话——先修三个真实的坑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3999" y="127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3999" y="1278000"/>
            <a:ext cx="2696400" cy="32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4000" y="1378800"/>
            <a:ext cx="2336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i="0" spc="12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真实日线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000" y="1583999"/>
            <a:ext cx="2336400" cy="50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44,077</a:t>
            </a:r>
            <a:r>
              <a:rPr sz="11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3600" y="127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3600" y="1278000"/>
            <a:ext cx="2696400" cy="32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13600" y="1378800"/>
            <a:ext cx="2336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i="0" spc="12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核验现金流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3600" y="1583999"/>
            <a:ext cx="2336400" cy="50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108</a:t>
            </a:r>
            <a:r>
              <a:rPr sz="11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200" y="127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3200" y="1278000"/>
            <a:ext cx="2696400" cy="32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3200" y="1378800"/>
            <a:ext cx="2336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i="0" spc="12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已核除息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3200" y="1583999"/>
            <a:ext cx="2336400" cy="50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58</a:t>
            </a:r>
            <a:r>
              <a:rPr sz="11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2800" y="1278000"/>
            <a:ext cx="26964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92800" y="1278000"/>
            <a:ext cx="2696400" cy="32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72800" y="1378800"/>
            <a:ext cx="23364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i="0" spc="12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自动化测试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2800" y="1583999"/>
            <a:ext cx="2336400" cy="50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24</a:t>
            </a:r>
            <a:r>
              <a:rPr sz="11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999" y="2358000"/>
            <a:ext cx="3524399" cy="21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3999" y="2358000"/>
            <a:ext cx="3524399" cy="32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47999" y="2484000"/>
            <a:ext cx="359100" cy="20880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坑1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999" y="2491200"/>
            <a:ext cx="27684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到期日差一天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999" y="2844000"/>
            <a:ext cx="3236399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帝欧合同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2027-10-24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，数据表给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10-25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999" y="4031999"/>
            <a:ext cx="32363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999" y="4103999"/>
            <a:ext cx="3236399" cy="30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√  18券全部改用合同末日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54399" y="2358000"/>
            <a:ext cx="3524399" cy="21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54399" y="2358000"/>
            <a:ext cx="3524399" cy="32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298400" y="2484000"/>
            <a:ext cx="359100" cy="20880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坑2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6399" y="2491200"/>
            <a:ext cx="27684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末息重复计息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8400" y="2844000"/>
            <a:ext cx="3236399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第六年只记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含末息兑付额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8400" y="4031999"/>
            <a:ext cx="32363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98400" y="4103999"/>
            <a:ext cx="3236399" cy="30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√  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不再单独计票息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04799" y="2358000"/>
            <a:ext cx="3524399" cy="21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804799" y="2358000"/>
            <a:ext cx="3524399" cy="32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948799" y="2484000"/>
            <a:ext cx="359100" cy="20880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坑3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6799" y="2491200"/>
            <a:ext cx="27684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亿田不赎回窗口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48799" y="2844000"/>
            <a:ext cx="3236399" cy="86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承诺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2026-09-24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至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12-23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不覆盖未来六个月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48799" y="4031999"/>
            <a:ext cx="32363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48799" y="4103999"/>
            <a:ext cx="3236399" cy="30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!  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这条坑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直接进了亿田的红线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3999" y="4626000"/>
            <a:ext cx="11185200" cy="503999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03999" y="4626000"/>
            <a:ext cx="43200" cy="50399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66000" y="4770000"/>
            <a:ext cx="688895" cy="208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代码工程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5999" y="4626000"/>
            <a:ext cx="9576000" cy="5039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b-quant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· GitHub仓库 ｜输入 </a:t>
            </a:r>
            <a:r>
              <a:rPr sz="10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SHA-256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清单 + 一键离线复算 ｜任何人重跑，结果一致 ｜证据链核到公告PDF级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999" y="5238000"/>
            <a:ext cx="111852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A线逐份翻公告核条款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× </a:t>
            </a:r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B线写代码修数据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——数据不准，价格检验就无从谈起。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2</a:t>
            </a:r>
            <a:r>
              <a:rPr lang="en-US" sz="90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5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分 · B线 量化与市场验证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27118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B1 · 32s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B1 定价：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债底兜底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，树给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期权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给每只券算一个"模型参考价"，再和市价比一比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3999" y="1278000"/>
            <a:ext cx="5500800" cy="1962000"/>
          </a:xfrm>
          <a:prstGeom prst="rect">
            <a:avLst/>
          </a:prstGeom>
          <a:solidFill>
            <a:srgbClr val="FCFBF7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3999" y="1278000"/>
            <a:ext cx="50400" cy="196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6000" y="1385999"/>
            <a:ext cx="1459440" cy="208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第①层 · 债底（兜底）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5440" y="1393199"/>
            <a:ext cx="51408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逐笔折现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999" y="1655999"/>
            <a:ext cx="5212799" cy="54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债底 = Σ CF</a:t>
            </a:r>
            <a:r>
              <a:rPr sz="1100" b="1" i="0" baseline="-2500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i</a:t>
            </a:r>
            <a:r>
              <a:rPr sz="2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· exp[−(r+s)·τ</a:t>
            </a:r>
            <a:r>
              <a:rPr sz="1100" b="1" i="0" baseline="-2500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i</a:t>
            </a:r>
            <a:r>
              <a:rPr sz="2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000" y="2754000"/>
            <a:ext cx="51768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000" y="2808000"/>
            <a:ext cx="51768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剩余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真实票息与到期兑付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逐笔折现；利差取 </a:t>
            </a: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50 / 200 / 500bp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三档情景，不赌单一利率。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4800" y="1278000"/>
            <a:ext cx="5500800" cy="1962000"/>
          </a:xfrm>
          <a:prstGeom prst="rect">
            <a:avLst/>
          </a:prstGeom>
          <a:solidFill>
            <a:srgbClr val="FCFBF7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84800" y="1278000"/>
            <a:ext cx="50400" cy="1962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46800" y="1385999"/>
            <a:ext cx="1809906" cy="208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第②层 · CRR二叉树（期权）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6706" y="1393199"/>
            <a:ext cx="51408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spc="10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权益与现金分治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8799" y="1655999"/>
            <a:ext cx="5212799" cy="54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树节点价值 = max( 转股价值 , 继续持有 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6800" y="2754000"/>
            <a:ext cx="5176800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46800" y="2808000"/>
            <a:ext cx="5176800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CRR二叉树每个节点比较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"立即转股 vs 继续持有"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，权益与现金分治。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3999" y="3384000"/>
            <a:ext cx="5500800" cy="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3999" y="3384000"/>
            <a:ext cx="5500800" cy="32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6000" y="3474000"/>
            <a:ext cx="5184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数值收敛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000" y="3726000"/>
            <a:ext cx="5184000" cy="50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401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步 vs </a:t>
            </a: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801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步，全池定价差异 </a:t>
            </a:r>
            <a:r>
              <a:rPr sz="10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&lt;0.163%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（步数加倍的代价换来放心）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4800" y="3384000"/>
            <a:ext cx="5500800" cy="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84800" y="3384000"/>
            <a:ext cx="5500800" cy="32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46800" y="3474000"/>
            <a:ext cx="5184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条款边界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6800" y="3726000"/>
            <a:ext cx="5184000" cy="50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固定转股价 </a:t>
            </a: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K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· 不含强赎与下修</a:t>
            </a:r>
          </a:p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声明：树差用来排序，不当公允价；同期关系不是事前预测。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3999" y="4446000"/>
            <a:ext cx="11185200" cy="36000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3999" y="4446000"/>
            <a:ext cx="43200" cy="360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6000" y="4500000"/>
            <a:ext cx="11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进评分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2000" y="4500000"/>
            <a:ext cx="9576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债底现值 → A线D3口径　｜　树差 → A线D2修正参考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2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分 · B线 量化与市场验证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27118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B1 · 32s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B1 全池定价：便宜分两种——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补偿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与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陷阱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树参考 − 市价（%）：正数=模型觉得比市价便宜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4000" y="1303200"/>
            <a:ext cx="72000" cy="72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0000" y="1260000"/>
            <a:ext cx="16200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正值向右 · 补偿方向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64000" y="1303200"/>
            <a:ext cx="72000" cy="72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90000" y="1260000"/>
            <a:ext cx="1655999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负值向左 · 偏贵方向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4000" y="1260000"/>
            <a:ext cx="18000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条长 ∝ 树差绝对值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3480" y="1512000"/>
            <a:ext cx="5040" cy="402120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7999" y="15300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帝欧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6000" y="1586700"/>
            <a:ext cx="3222000" cy="10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2000" y="15300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+13.8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9" y="17514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亿田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6000" y="1808100"/>
            <a:ext cx="2918478" cy="10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2000" y="17514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+12.5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9" y="19728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海顺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46000" y="2029500"/>
            <a:ext cx="1144043" cy="10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2000" y="19728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+4.9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999" y="21942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莱克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46000" y="2250900"/>
            <a:ext cx="630391" cy="10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22000" y="21942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+2.7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999" y="24156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火星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6000" y="2472300"/>
            <a:ext cx="350217" cy="108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22000" y="24156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+1.5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999" y="26370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江山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22652" y="2693700"/>
            <a:ext cx="23347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22000" y="26370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999" y="28584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乐歌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22652" y="2915100"/>
            <a:ext cx="23347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22000" y="28584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999" y="30798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蒙娜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9217" y="3136500"/>
            <a:ext cx="186782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22000" y="30798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-0.8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9" y="33012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科沃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98869" y="3357900"/>
            <a:ext cx="747130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22000" y="33012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-3.2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7999" y="35226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特纸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78608" y="3579300"/>
            <a:ext cx="1167391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722000" y="35226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-5.0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999" y="37440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翔26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88304" y="3800700"/>
            <a:ext cx="1657695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22000" y="37440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-7.1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7999" y="39654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嘉益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48217" y="4022100"/>
            <a:ext cx="1797782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22000" y="39654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-7.7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7999" y="4186799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欧22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78173" y="4243500"/>
            <a:ext cx="1867826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22000" y="4186799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-8.0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7999" y="44082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艾录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54826" y="4464900"/>
            <a:ext cx="1891173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22000" y="44082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-8.1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7999" y="46296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小熊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98000" y="4686300"/>
            <a:ext cx="2147999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22000" y="46296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-9.2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7999" y="48510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金23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34565" y="4907700"/>
            <a:ext cx="2311434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722000" y="48510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-9.9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7999" y="50724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志邦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41173" y="5129100"/>
            <a:ext cx="2404826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22000" y="50724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-10.3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7999" y="5293800"/>
            <a:ext cx="70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永吉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410782" y="5350500"/>
            <a:ext cx="3035217" cy="1080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722000" y="5293800"/>
            <a:ext cx="432000" cy="221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-13.0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3999" y="5569200"/>
            <a:ext cx="7668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200bp</a:t>
            </a: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利差口径；条款边界同上页；这一页为A线的</a:t>
            </a:r>
            <a:r>
              <a:rPr sz="9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D2</a:t>
            </a: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、</a:t>
            </a:r>
            <a:r>
              <a:rPr sz="9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D3</a:t>
            </a: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打分提供量化输入。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16000" y="1530000"/>
            <a:ext cx="3373199" cy="201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8460000" y="1638000"/>
            <a:ext cx="359100" cy="20880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注1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56000" y="1645200"/>
            <a:ext cx="2689199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陷阱侧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60000" y="1925999"/>
            <a:ext cx="3085199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帝欧</a:t>
            </a: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+13.8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、亿田</a:t>
            </a: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+12.5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的"便宜"——高波动抬期权、模型不含强赎与违约：</a:t>
            </a:r>
            <a:r>
              <a:rPr sz="10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便宜正是风险的另一种写法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316000" y="3654000"/>
            <a:ext cx="3373199" cy="2015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8460000" y="3761999"/>
            <a:ext cx="359100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注2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56000" y="3769200"/>
            <a:ext cx="2689199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补偿侧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460000" y="4050000"/>
            <a:ext cx="3085199" cy="15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推荐三只的补偿——海顺</a:t>
            </a:r>
            <a:r>
              <a:rPr sz="10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+4.9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、莱克</a:t>
            </a:r>
            <a:r>
              <a:rPr sz="10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+2.7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是温和补偿；特纸</a:t>
            </a: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-5.0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：模型觉得不值这个价，</a:t>
            </a:r>
            <a:r>
              <a:rPr sz="10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所以等价格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2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7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分 · B线 量化与市场验证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27118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B2 · 40s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B2 传导：正股的故事，能传到债价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几成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日收益回归量出β，留出检验防"过拟合的故事"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3999" y="1278000"/>
            <a:ext cx="4536000" cy="1044000"/>
          </a:xfrm>
          <a:prstGeom prst="rect">
            <a:avLst/>
          </a:prstGeom>
          <a:solidFill>
            <a:srgbClr val="FCFBF7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3999" y="1278000"/>
            <a:ext cx="50400" cy="1044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999" y="1350000"/>
            <a:ext cx="4248000" cy="503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r</a:t>
            </a:r>
            <a:r>
              <a:rPr sz="900" b="1" i="0" baseline="-2500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转债,t</a:t>
            </a:r>
            <a:r>
              <a:rPr sz="17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= α + β · r</a:t>
            </a:r>
            <a:r>
              <a:rPr sz="900" b="1" i="0" baseline="-2500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正股,t</a:t>
            </a:r>
            <a:r>
              <a:rPr sz="17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+ ε</a:t>
            </a:r>
            <a:r>
              <a:rPr sz="900" b="1" i="0" baseline="-2500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999" y="1925999"/>
            <a:ext cx="4248000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OLS + HC3</a:t>
            </a:r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稳健标准误——β衡量转债日收益对正股日收益的</a:t>
            </a:r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弹性</a:t>
            </a:r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3999" y="2430000"/>
            <a:ext cx="4536000" cy="190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3999" y="2430000"/>
            <a:ext cx="4536000" cy="32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999" y="2520000"/>
            <a:ext cx="4248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检验设计 · 留出（holdout）防编故事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000" y="2836800"/>
            <a:ext cx="50400" cy="50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4799" y="2790000"/>
            <a:ext cx="4067999" cy="4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最后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180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个有效日切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120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训练/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60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留出，与"均值猜"基准比误差——胜过基准 </a:t>
            </a: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10/17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，含息口径 </a:t>
            </a: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11/17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000" y="3348000"/>
            <a:ext cx="50400" cy="50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4799" y="3301200"/>
            <a:ext cx="4067999" cy="4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窗口 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60/120/252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三档并排，看参数稳定性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000" y="3859200"/>
            <a:ext cx="50400" cy="50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4799" y="3812400"/>
            <a:ext cx="4067999" cy="4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留出失败的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结果全部保留、不删除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8000" y="1350000"/>
            <a:ext cx="7919" cy="2880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508000" y="4230000"/>
            <a:ext cx="5976000" cy="7919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94000" y="1270800"/>
            <a:ext cx="3600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0.8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08000" y="2070000"/>
            <a:ext cx="5976000" cy="4320"/>
          </a:xfrm>
          <a:prstGeom prst="rect">
            <a:avLst/>
          </a:prstGeom>
          <a:solidFill>
            <a:srgbClr val="EF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94000" y="1990800"/>
            <a:ext cx="3600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0.6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8000" y="2790000"/>
            <a:ext cx="5976000" cy="4320"/>
          </a:xfrm>
          <a:prstGeom prst="rect">
            <a:avLst/>
          </a:prstGeom>
          <a:solidFill>
            <a:srgbClr val="EF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94000" y="2710800"/>
            <a:ext cx="3600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0.4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08000" y="3510000"/>
            <a:ext cx="5976000" cy="4320"/>
          </a:xfrm>
          <a:prstGeom prst="rect">
            <a:avLst/>
          </a:prstGeom>
          <a:solidFill>
            <a:srgbClr val="EF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94000" y="3430800"/>
            <a:ext cx="3600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0.2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4000" y="4150800"/>
            <a:ext cx="3600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08" y="1350000"/>
            <a:ext cx="4320" cy="2880000"/>
          </a:xfrm>
          <a:prstGeom prst="rect">
            <a:avLst/>
          </a:prstGeom>
          <a:solidFill>
            <a:srgbClr val="EF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493992" y="1350000"/>
            <a:ext cx="4320" cy="2880000"/>
          </a:xfrm>
          <a:prstGeom prst="rect">
            <a:avLst/>
          </a:prstGeom>
          <a:solidFill>
            <a:srgbClr val="EFE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28000" y="4266000"/>
            <a:ext cx="3600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8008" y="4266000"/>
            <a:ext cx="3600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0.2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13992" y="4266000"/>
            <a:ext cx="3600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0.4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04000" y="4266000"/>
            <a:ext cx="3600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0.6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44000" y="1170000"/>
            <a:ext cx="5400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R²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72000" y="4266000"/>
            <a:ext cx="5760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β →</a:t>
            </a:r>
          </a:p>
        </p:txBody>
      </p:sp>
      <p:sp>
        <p:nvSpPr>
          <p:cNvPr id="39" name="Oval 38"/>
          <p:cNvSpPr/>
          <p:nvPr/>
        </p:nvSpPr>
        <p:spPr>
          <a:xfrm>
            <a:off x="6473592" y="376560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772392" y="347760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071192" y="326160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7369992" y="301104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567200" y="369360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764408" y="272304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063208" y="340560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362008" y="290160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8565192" y="250416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863992" y="322416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162792" y="229104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461592" y="279216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856008" y="210960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059192" y="3080160"/>
            <a:ext cx="64800" cy="64800"/>
          </a:xfrm>
          <a:prstGeom prst="ellipse">
            <a:avLst/>
          </a:prstGeom>
          <a:solidFill>
            <a:srgbClr val="98A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519200" y="2116800"/>
            <a:ext cx="136800" cy="13680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220400" y="2721600"/>
            <a:ext cx="136800" cy="13680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6138792" y="3931200"/>
            <a:ext cx="136800" cy="13680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48000" y="1296000"/>
            <a:ext cx="27000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亿田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β0.51 · R²0.71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48000" y="1501200"/>
            <a:ext cx="270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全池最强，债价贴着正股走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36000" y="2847600"/>
            <a:ext cx="23760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帝欧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β0.48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36000" y="3045600"/>
            <a:ext cx="2376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留出检验失败——关系在漂移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0000" y="3078000"/>
            <a:ext cx="25920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科沃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β0.07 · R²0.08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0000" y="3276000"/>
            <a:ext cx="2592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正股基本解释不了债价——它就是一只债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56000" y="4453200"/>
            <a:ext cx="64800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●</a:t>
            </a:r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深红点=重点券　●灰点=其余14只　·　翔26无120日窗口（61条报价）不入图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3999" y="4806000"/>
            <a:ext cx="11185200" cy="5580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 w="1143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03999" y="4806000"/>
            <a:ext cx="43200" cy="5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6000" y="4849200"/>
            <a:ext cx="10908000" cy="468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讲正股故事之前，先看它传不传得进债价——</a:t>
            </a:r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β×R²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是A线</a:t>
            </a:r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D4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（正股走势与联动）打分的测算输入。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回应A线：科沃"经营最优"，但 β0.07，故事传不动。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2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8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分 · B线 量化与市场验证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27118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B3 · 40s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B3 路径：期末小亏，不等于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一路没伤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同一只券 × 四种取样口径 · 流动性两极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3999" y="1278000"/>
            <a:ext cx="5256000" cy="23760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6000" y="1360800"/>
            <a:ext cx="324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帝欧转债 · 120日真实持有路径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2829" y="1386000"/>
            <a:ext cx="1443170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2026-04-08 → 2026-09-30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000" y="1638000"/>
            <a:ext cx="1296000" cy="37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2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+31.2%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1999" y="1728000"/>
            <a:ext cx="3528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期间峰值（4月下旬，4月21日）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999" y="2005200"/>
            <a:ext cx="503999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000" y="2185200"/>
            <a:ext cx="1296000" cy="37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20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-27.7%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1999" y="2275200"/>
            <a:ext cx="3528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期末较峰值回撤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999" y="2552400"/>
            <a:ext cx="503999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000" y="2732400"/>
            <a:ext cx="1296000" cy="37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22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-4.96%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1999" y="2822400"/>
            <a:ext cx="3528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期末收益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000" y="3258000"/>
            <a:ext cx="4932000" cy="3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5999" y="3283199"/>
            <a:ext cx="4752000" cy="251999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中途拿不住，就拿不到期末——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持有体验本身是风险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86000" y="1278000"/>
            <a:ext cx="5803200" cy="237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48000" y="1360800"/>
            <a:ext cx="54792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窗口口径表 · 换个样本，结论就换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048000" y="1620000"/>
          <a:ext cx="5508000" cy="1404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窗口口径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样本数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期末中位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5%分位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4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全历史 · 重叠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1052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-2.0%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-23.6%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全历史 · 非重叠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9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-2.0%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样本不足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近期 · 重叠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132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00206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+4.7%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-0.9%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近期 · 非重叠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+1.6%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6E6A61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样本不足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048000" y="3150000"/>
            <a:ext cx="5479200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样本期一换，结论反转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——所以四种口径并列，不挑好看的窗口。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3999" y="3798000"/>
            <a:ext cx="37800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3999" y="3798000"/>
            <a:ext cx="3780000" cy="32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999" y="3870000"/>
            <a:ext cx="126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亿田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8000" y="3888000"/>
            <a:ext cx="15120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近20日中位成交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999" y="4086000"/>
            <a:ext cx="3491999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43.4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万手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99" y="4482000"/>
            <a:ext cx="3491999" cy="100800"/>
          </a:xfrm>
          <a:prstGeom prst="roundRect">
            <a:avLst>
              <a:gd name="adj" fmla="val 50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7999" y="4482000"/>
            <a:ext cx="3491999" cy="100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788000" y="3798000"/>
            <a:ext cx="3780000" cy="93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88000" y="3798000"/>
            <a:ext cx="3780000" cy="324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2000" y="3870000"/>
            <a:ext cx="1260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艾录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000" y="3888000"/>
            <a:ext cx="15120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近20日中位成交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2000" y="4086000"/>
            <a:ext cx="3491999" cy="36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90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0.56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万手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32000" y="4482000"/>
            <a:ext cx="3491999" cy="100800"/>
          </a:xfrm>
          <a:prstGeom prst="roundRect">
            <a:avLst>
              <a:gd name="adj" fmla="val 50000"/>
            </a:avLst>
          </a:prstGeom>
          <a:solidFill>
            <a:srgbClr val="F4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932000" y="4482000"/>
            <a:ext cx="174600" cy="100800"/>
          </a:xfrm>
          <a:prstGeom prst="roundRect">
            <a:avLst>
              <a:gd name="adj" fmla="val 50000"/>
            </a:avLst>
          </a:prstGeom>
          <a:solidFill>
            <a:srgbClr val="4E61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327200" y="4121999"/>
            <a:ext cx="413999" cy="413999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vs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94000" y="3798000"/>
            <a:ext cx="2995200" cy="936000"/>
          </a:xfrm>
          <a:prstGeom prst="roundRect">
            <a:avLst>
              <a:gd name="adj" fmla="val 6000"/>
            </a:avLst>
          </a:prstGeom>
          <a:solidFill>
            <a:srgbClr val="F7F5F1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20000" y="3851999"/>
            <a:ext cx="2736000" cy="8279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流动性两极，</a:t>
            </a:r>
            <a:r>
              <a:rPr sz="10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成交手数是活跃度不是深度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3999" y="4878000"/>
            <a:ext cx="111852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除息日价跌 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45/58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次、现金票息翻正 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18/58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次；这一页为A线</a:t>
            </a: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D5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（流动性与路径）提供测算——该维市场权重</a:t>
            </a: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23%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2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9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分 · B线 量化与市场验证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27118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B4 · 35s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B4 预测：给六个月一个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分布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，不是一个点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不发明分布——肥尾、跳空、停牌缺口，全部来自这只股票自己的历史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3999" y="1278000"/>
            <a:ext cx="2499300" cy="1188000"/>
          </a:xfrm>
          <a:prstGeom prst="roundRect">
            <a:avLst>
              <a:gd name="adj" fmla="val 6000"/>
            </a:avLst>
          </a:prstGeom>
          <a:solidFill>
            <a:srgbClr val="F7F5F1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000" y="1350000"/>
            <a:ext cx="432000" cy="39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000" y="1386000"/>
            <a:ext cx="18873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正股路径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000" y="1710000"/>
            <a:ext cx="22473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历史</a:t>
            </a:r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126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日块bootstrap × </a:t>
            </a:r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10,000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条六个月路径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3300" y="1278000"/>
            <a:ext cx="396000" cy="118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300" y="1278000"/>
            <a:ext cx="2499300" cy="1188000"/>
          </a:xfrm>
          <a:prstGeom prst="roundRect">
            <a:avLst>
              <a:gd name="adj" fmla="val 6000"/>
            </a:avLst>
          </a:prstGeom>
          <a:solidFill>
            <a:srgbClr val="F7F5F1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5300" y="1350000"/>
            <a:ext cx="432000" cy="39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5300" y="1386000"/>
            <a:ext cx="18873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退出重估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5300" y="1710000"/>
            <a:ext cx="22473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91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点spot×</a:t>
            </a:r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3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档利差CRR曲面（与B1同核，插值误差</a:t>
            </a:r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&lt;0.18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元）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8600" y="1278000"/>
            <a:ext cx="396000" cy="118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4600" y="1278000"/>
            <a:ext cx="2499300" cy="1188000"/>
          </a:xfrm>
          <a:prstGeom prst="roundRect">
            <a:avLst>
              <a:gd name="adj" fmla="val 6000"/>
            </a:avLst>
          </a:prstGeom>
          <a:solidFill>
            <a:srgbClr val="F7F5F1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0600" y="1350000"/>
            <a:ext cx="432000" cy="39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0600" y="1386000"/>
            <a:ext cx="18873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双口径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0600" y="1710000"/>
            <a:ext cx="22473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转股价收敛 vs 价差维持，</a:t>
            </a:r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真值介于两者之间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3900" y="1278000"/>
            <a:ext cx="396000" cy="118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4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900" y="1278000"/>
            <a:ext cx="2499300" cy="1188000"/>
          </a:xfrm>
          <a:prstGeom prst="roundRect">
            <a:avLst>
              <a:gd name="adj" fmla="val 6000"/>
            </a:avLst>
          </a:prstGeom>
          <a:solidFill>
            <a:srgbClr val="F7F5F1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15900" y="1350000"/>
            <a:ext cx="432000" cy="39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5900" y="1386000"/>
            <a:ext cx="18873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自校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5900" y="1710000"/>
            <a:ext cx="2247300" cy="70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6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个历史时点walk-forward，只用当时数据重做预测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3999" y="2682000"/>
            <a:ext cx="5500800" cy="1655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3999" y="2682000"/>
            <a:ext cx="5500800" cy="324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6000" y="2772000"/>
            <a:ext cx="5184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校准结果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6000" y="3024000"/>
            <a:ext cx="1800000" cy="57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4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72</a:t>
            </a:r>
            <a:r>
              <a:rPr sz="180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20000" y="3041999"/>
            <a:ext cx="3384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75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次检验中真实值落入 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P5–P95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区间的比例（名义 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90%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000" y="3690000"/>
            <a:ext cx="5184000" cy="57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区间偏窄、模型偏自信，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如实报告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；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2023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年时点最差（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53.8%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）。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4800" y="2682000"/>
            <a:ext cx="5500800" cy="1655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46800" y="2772000"/>
            <a:ext cx="51840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使用规则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46800" y="3078000"/>
            <a:ext cx="5184000" cy="50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① 不许只看P50</a:t>
            </a:r>
            <a:r>
              <a:rPr sz="1050" b="0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——P5与信用压力情景必须并列出现；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6800" y="3618000"/>
            <a:ext cx="5184000" cy="503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②</a:t>
            </a:r>
            <a:r>
              <a:rPr sz="1050" b="0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 敢把校准缺点放上台面，预测才可用。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3999" y="4500000"/>
            <a:ext cx="111852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口径同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B1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；零漂移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GBM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副引擎；翔26仅参数化、乐歌按到期处理；分布构成</a:t>
            </a: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D6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——B线唯一独立打分的维度。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</a:t>
            </a:r>
            <a:r>
              <a:rPr lang="en-US" sz="90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30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分 · B线 量化与市场验证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27118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B4 · 35s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B4 六案预测：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一只可买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，两只等条件，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三只不合格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P5 / P50 / P95（bootstrap · 收敛口径 · 200bp）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2800" y="1278000"/>
          <a:ext cx="11123996" cy="20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5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159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券</a:t>
                      </a:r>
                    </a:p>
                  </a:txBody>
                  <a:tcPr marL="21600" marR="21600" marT="7200" marB="72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行动</a:t>
                      </a:r>
                    </a:p>
                  </a:txBody>
                  <a:tcPr marL="21600" marR="21600" marT="7200" marB="72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P5</a:t>
                      </a:r>
                    </a:p>
                  </a:txBody>
                  <a:tcPr marL="21600" marR="21600" marT="7200" marB="72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P50</a:t>
                      </a:r>
                    </a:p>
                  </a:txBody>
                  <a:tcPr marL="21600" marR="21600" marT="7200" marB="72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P95</a:t>
                      </a:r>
                    </a:p>
                  </a:txBody>
                  <a:tcPr marL="21600" marR="21600" marT="7200" marB="72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P(亏损)</a:t>
                      </a:r>
                    </a:p>
                  </a:txBody>
                  <a:tcPr marL="21600" marR="21600" marT="7200" marB="7200" anchor="ctr">
                    <a:solidFill>
                      <a:srgbClr val="F4F0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价差维持P50</a:t>
                      </a:r>
                    </a:p>
                  </a:txBody>
                  <a:tcPr marL="21600" marR="21600" marT="7200" marB="7200" anchor="ctr">
                    <a:solidFill>
                      <a:srgbClr val="F4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海顺</a:t>
                      </a:r>
                    </a:p>
                  </a:txBody>
                  <a:tcPr marL="100800" marR="1008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有限买入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-10.3%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+4.0%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+64.3%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39%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-0.8%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莱克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等待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-12.0%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+3.8%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+50.4%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40%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+1.0%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特纸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等待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-16.2%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-7.6%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+50.4%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68%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-2.8%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科沃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回避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-1.7%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-1.7%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-0.6%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96%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+1.5%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帝欧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回避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-11.2%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+3.4%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+60.7%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43%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-9.0%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800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亿田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回避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-22.0%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+10.6%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+85.6%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35%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-1.7%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2800" y="3546000"/>
            <a:ext cx="361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2800" y="3546000"/>
            <a:ext cx="36120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800" y="3628800"/>
            <a:ext cx="33239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亿田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800" y="3870000"/>
            <a:ext cx="3323999" cy="52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中枢</a:t>
            </a: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+10.6%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最高但</a:t>
            </a: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P5 -22%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——</a:t>
            </a:r>
            <a:r>
              <a:rPr sz="10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中枢好看、尾部不合格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800" y="3546000"/>
            <a:ext cx="361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88800" y="3546000"/>
            <a:ext cx="3612000" cy="32400"/>
          </a:xfrm>
          <a:prstGeom prst="rect">
            <a:avLst/>
          </a:prstGeom>
          <a:solidFill>
            <a:srgbClr val="7C8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2800" y="3628800"/>
            <a:ext cx="33239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科沃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2800" y="3870000"/>
            <a:ext cx="3323999" cy="52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96%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概率亏——六个半月几乎横着走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4800" y="3546000"/>
            <a:ext cx="3612000" cy="9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4800" y="3546000"/>
            <a:ext cx="36120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8800" y="3628800"/>
            <a:ext cx="3323999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海顺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800" y="3870000"/>
            <a:ext cx="3323999" cy="52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P50 +4.0%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接受</a:t>
            </a: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-10.3%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尾部——</a:t>
            </a:r>
            <a:r>
              <a:rPr sz="10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有限买入而非重仓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3999" y="4590000"/>
            <a:ext cx="111852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完整双口径×三利差见 </a:t>
            </a:r>
            <a:r>
              <a:rPr sz="95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b-quant/results/predict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；模型参考非可成交价；分布构成</a:t>
            </a: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D6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市场表现预测分（B线独立承担）。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1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总 · 合成与决策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301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B4 · 40s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合成：18券 × 六维，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一张表定排名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分数 × 市场权重，红线在表外一票否决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32800" y="1350000"/>
          <a:ext cx="11127600" cy="3978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89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12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91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3200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券</a:t>
                      </a:r>
                    </a:p>
                  </a:txBody>
                  <a:tcPr marL="21600" marR="21600" marT="7200" marB="7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D1</a:t>
                      </a:r>
                    </a:p>
                  </a:txBody>
                  <a:tcPr marL="21600" marR="21600" marT="7200" marB="7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D2</a:t>
                      </a:r>
                    </a:p>
                  </a:txBody>
                  <a:tcPr marL="21600" marR="21600" marT="7200" marB="7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D3</a:t>
                      </a:r>
                    </a:p>
                  </a:txBody>
                  <a:tcPr marL="21600" marR="21600" marT="7200" marB="7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D4</a:t>
                      </a:r>
                    </a:p>
                  </a:txBody>
                  <a:tcPr marL="21600" marR="21600" marT="7200" marB="7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D5</a:t>
                      </a:r>
                    </a:p>
                  </a:txBody>
                  <a:tcPr marL="21600" marR="21600" marT="7200" marB="7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D6</a:t>
                      </a:r>
                    </a:p>
                  </a:txBody>
                  <a:tcPr marL="21600" marR="21600" marT="7200" marB="7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综合</a:t>
                      </a:r>
                    </a:p>
                  </a:txBody>
                  <a:tcPr marL="21600" marR="21600" marT="7200" marB="7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开放排名</a:t>
                      </a:r>
                    </a:p>
                  </a:txBody>
                  <a:tcPr marL="21600" marR="21600" marT="7200" marB="720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红线</a:t>
                      </a:r>
                    </a:p>
                  </a:txBody>
                  <a:tcPr marL="21600" marR="21600" marT="7200" marB="720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科沃</a:t>
                      </a:r>
                    </a:p>
                  </a:txBody>
                  <a:tcPr marL="100800" marR="1008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8.7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0.5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8.0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1.3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2.5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4.8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6.04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R2 溢价&gt;100%</a:t>
                      </a:r>
                    </a:p>
                  </a:txBody>
                  <a:tcPr marL="90000" marR="90000" marT="7200" marB="7200" anchor="ctr"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蒙娜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6.9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8.0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4.8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5.95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R2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乐歌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0.5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8.0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2.1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8.0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5.80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R2+R3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特纸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8.7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6.8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8.0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5.61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开放1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江山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1.8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8.0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2.1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8.0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5.34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R1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欧22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3.6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5.12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开放2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莱克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9.1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8.0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6.3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5.07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开放3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小熊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6.9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5.3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2.9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4.90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开放4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海顺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6.1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9.2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6.3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4.79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开放5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火星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2.4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7.0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4.8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4.79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R1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帝欧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1.2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10.0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6.8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5.8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4.76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R1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嘉益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6.3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0.5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2.1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4.61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R2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金23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0.5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3.6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4.43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R2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艾录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4.3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2.9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4.07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R1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志邦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2.9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3.98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R2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翔26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6.9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3.8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3.5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3.82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R3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亿田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2.4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9.2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9.0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6.0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6F6B63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3.13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R1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6200">
                <a:tc>
                  <a:txBody>
                    <a:bodyPr/>
                    <a:lstStyle/>
                    <a:p>
                      <a:pPr algn="l"/>
                      <a:r>
                        <a:rPr sz="95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永吉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3.6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5.3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8.0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3.0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2.1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2B2B2B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2.92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C00000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开放6</a:t>
                      </a:r>
                    </a:p>
                  </a:txBody>
                  <a:tcPr marL="21600" marR="216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i="0">
                          <a:solidFill>
                            <a:srgbClr val="AFAAA2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>
                      <a:solidFill>
                        <a:srgbClr val="DDD8D0"/>
                      </a:solidFill>
                    </a:lnB>
                    <a:solidFill>
                      <a:srgbClr val="FD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3200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市场权重</a:t>
                      </a:r>
                    </a:p>
                  </a:txBody>
                  <a:tcPr marL="100800" marR="1008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13%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48%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7%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23%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7%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100%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—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  <a:cs typeface="Times New Roman"/>
                        </a:rPr>
                        <a:t>一票否决，不计权重</a:t>
                      </a:r>
                    </a:p>
                  </a:txBody>
                  <a:tcPr marL="90000" marR="90000" marT="7200" marB="7200" anchor="ctr">
                    <a:lnT w="9525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32800" y="5598000"/>
            <a:ext cx="3624000" cy="6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2800" y="5598000"/>
            <a:ext cx="36000" cy="612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800" y="5644800"/>
            <a:ext cx="3408000" cy="52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科沃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综合 </a:t>
            </a:r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6.04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全池最高——</a:t>
            </a:r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R2一票否决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（好公司≠好转债的数字版）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800" y="5598000"/>
            <a:ext cx="3624000" cy="6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82800" y="5598000"/>
            <a:ext cx="36000" cy="612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08800" y="5644800"/>
            <a:ext cx="3408000" cy="52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特纸 </a:t>
            </a:r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5.61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开放第一——</a:t>
            </a:r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权重补位候选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2800" y="5598000"/>
            <a:ext cx="3624000" cy="61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32800" y="5598000"/>
            <a:ext cx="36000" cy="612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58800" y="5644800"/>
            <a:ext cx="3408000" cy="52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红线券各有触发列（</a:t>
            </a:r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R1×5 · R2×6 · R3×2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，乐歌双踩）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总 · 合成与决策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301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B4 · 45s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决策规则：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补偿门槛</a:t>
            </a:r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入围，市场权重排序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权重是全市场反推的——799只转债 × 4.5年面板，剔除本组18只，纯样本外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3999" y="1296000"/>
            <a:ext cx="1188000" cy="270000"/>
          </a:xfrm>
          <a:prstGeom prst="rect">
            <a:avLst/>
          </a:prstGeom>
          <a:solidFill>
            <a:srgbClr val="F4F0E8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999" y="1296000"/>
            <a:ext cx="1080000" cy="2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特征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999" y="1296000"/>
            <a:ext cx="2015999" cy="270000"/>
          </a:xfrm>
          <a:prstGeom prst="rect">
            <a:avLst/>
          </a:prstGeom>
          <a:solidFill>
            <a:srgbClr val="F4F0E8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45999" y="1296000"/>
            <a:ext cx="1908000" cy="2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维度权重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7999" y="1296000"/>
            <a:ext cx="1080000" cy="270000"/>
          </a:xfrm>
          <a:prstGeom prst="rect">
            <a:avLst/>
          </a:prstGeom>
          <a:solidFill>
            <a:srgbClr val="F4F0E8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61999" y="1296000"/>
            <a:ext cx="972000" cy="2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Newey-West 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88000" y="1296000"/>
            <a:ext cx="1548000" cy="270000"/>
          </a:xfrm>
          <a:prstGeom prst="rect">
            <a:avLst/>
          </a:prstGeom>
          <a:solidFill>
            <a:srgbClr val="F4F0E8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2000" y="1296000"/>
            <a:ext cx="1440000" cy="27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解读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3999" y="1565999"/>
            <a:ext cx="1188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7999" y="1565999"/>
            <a:ext cx="1080000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债底覆盖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999" y="1565999"/>
            <a:ext cx="2015999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81999" y="1713600"/>
            <a:ext cx="725760" cy="93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61760" y="1565999"/>
            <a:ext cx="720000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48%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7999" y="1565999"/>
            <a:ext cx="1080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43999" y="1565999"/>
            <a:ext cx="1007999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t=6.7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88000" y="1565999"/>
            <a:ext cx="1548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2000" y="1565999"/>
            <a:ext cx="144000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四年斜率全正：结构性规律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999" y="1954800"/>
            <a:ext cx="1188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57999" y="1954800"/>
            <a:ext cx="1080000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低换手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91999" y="1954800"/>
            <a:ext cx="2015999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781999" y="2102400"/>
            <a:ext cx="347760" cy="93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83760" y="1954800"/>
            <a:ext cx="720000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23%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07999" y="1954800"/>
            <a:ext cx="1080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43999" y="1954800"/>
            <a:ext cx="1007999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t=-4.6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88000" y="1954800"/>
            <a:ext cx="1548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2000" y="1954800"/>
            <a:ext cx="144000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换手=妖债温度计，四年全负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3999" y="2343600"/>
            <a:ext cx="1188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57999" y="2343600"/>
            <a:ext cx="1080000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评级序数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91999" y="2343600"/>
            <a:ext cx="2015999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781999" y="2491200"/>
            <a:ext cx="196560" cy="93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32560" y="2343600"/>
            <a:ext cx="720000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13%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07999" y="2343600"/>
            <a:ext cx="1080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743999" y="2343600"/>
            <a:ext cx="1007999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t=1.8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88000" y="2343600"/>
            <a:ext cx="1548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42000" y="2343600"/>
            <a:ext cx="144000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中国评级区分度低，弱正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3999" y="2732400"/>
            <a:ext cx="1188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7999" y="2732400"/>
            <a:ext cx="1080000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联动β×ρ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91999" y="2732400"/>
            <a:ext cx="2015999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781999" y="2879999"/>
            <a:ext cx="105840" cy="93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941840" y="2732400"/>
            <a:ext cx="720000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7%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07999" y="2732400"/>
            <a:ext cx="1080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43999" y="2732400"/>
            <a:ext cx="1007999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t=-2.4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88000" y="2732400"/>
            <a:ext cx="1548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42000" y="2732400"/>
            <a:ext cx="144000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高联动=承担股票下行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3999" y="3121200"/>
            <a:ext cx="1188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7999" y="3121200"/>
            <a:ext cx="1080000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低溢价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91999" y="3121200"/>
            <a:ext cx="2015999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781999" y="3268800"/>
            <a:ext cx="43200" cy="936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879200" y="3121200"/>
            <a:ext cx="720000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07999" y="3121200"/>
            <a:ext cx="1080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743999" y="3121200"/>
            <a:ext cx="1007999" cy="388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50" b="1" i="0">
                <a:solidFill>
                  <a:srgbClr val="4E6180"/>
                </a:solidFill>
                <a:latin typeface="Times New Roman"/>
                <a:ea typeface="微软雅黑"/>
                <a:cs typeface="Times New Roman"/>
              </a:rPr>
              <a:t>t=-1.1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88000" y="3121200"/>
            <a:ext cx="1548000" cy="38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842000" y="3121200"/>
            <a:ext cx="1440000" cy="38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逐年翻符号→权重归零，不赌周期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3999" y="3600000"/>
            <a:ext cx="5832000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√</a:t>
            </a: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</a:t>
            </a:r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FM+秩IC</a:t>
            </a: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双法互证；分年度</a:t>
            </a:r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FM</a:t>
            </a: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斜率债底覆盖 </a:t>
            </a:r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+0.33 / +0.34 / +0.22 / +0.31</a:t>
            </a: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全正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3999" y="4014000"/>
            <a:ext cx="5832000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√</a:t>
            </a: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文献互证：信达证券</a:t>
            </a:r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2024</a:t>
            </a: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《不一样的转债多因子》· </a:t>
            </a:r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Tsiveriotis-Fernandes 1998</a:t>
            </a:r>
            <a:r>
              <a:rPr sz="9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· </a:t>
            </a:r>
            <a:r>
              <a:rPr sz="900" b="1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Grinold-Kahn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623999" y="1296000"/>
            <a:ext cx="5065200" cy="73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623999" y="1296000"/>
            <a:ext cx="50652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6750000" y="1386000"/>
            <a:ext cx="540467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第一步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62000" y="1393200"/>
            <a:ext cx="42012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补偿入围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50000" y="1655999"/>
            <a:ext cx="4813200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树差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≥0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且无红线 → 直接进推荐池：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海顺 +4.91、莱克 +2.75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23999" y="2044800"/>
            <a:ext cx="50652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↓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623999" y="2214000"/>
            <a:ext cx="5065200" cy="73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623999" y="2214000"/>
            <a:ext cx="5065200" cy="32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70"/>
          <p:cNvSpPr/>
          <p:nvPr/>
        </p:nvSpPr>
        <p:spPr>
          <a:xfrm>
            <a:off x="6750000" y="2304000"/>
            <a:ext cx="540467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第二步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62000" y="2311200"/>
            <a:ext cx="42012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权重补位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50000" y="2574000"/>
            <a:ext cx="4813200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不足三席 → 非红线券按综合分补足：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特纸 5.61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23999" y="2962800"/>
            <a:ext cx="5065200" cy="1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↓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623999" y="3131999"/>
            <a:ext cx="5065200" cy="737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6750000" y="3221999"/>
            <a:ext cx="660623" cy="208800"/>
          </a:xfrm>
          <a:prstGeom prst="roundRect">
            <a:avLst>
              <a:gd name="adj" fmla="val 50000"/>
            </a:avLst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红线兜底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05999" y="3229200"/>
            <a:ext cx="4057200" cy="21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评分再高也不入池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50000" y="3491999"/>
            <a:ext cx="4813200" cy="34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R1×5 · R2×6 · R3×2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共 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12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只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23999" y="3996000"/>
            <a:ext cx="5065200" cy="93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750000" y="4060800"/>
            <a:ext cx="4813200" cy="82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为什么不直接按综合分取前三？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权重是估出来的、有噪声——门槛看绝对补偿，不怕权重抖动。市场权重回答"风格如何被定价"，补偿门槛回答"什么价格值得买"。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3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总 · 合成与决策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301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B1 · 35s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推荐三只：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海顺 · 莱克 · 特纸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补偿入围 + 权重补位 · 条件化行动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3999" y="1278000"/>
            <a:ext cx="3524399" cy="32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3999" y="1278000"/>
            <a:ext cx="3524399" cy="50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7999" y="1404000"/>
            <a:ext cx="316825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#1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1411200"/>
            <a:ext cx="1976399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海顺转债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95504" y="1414800"/>
            <a:ext cx="688895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有限买入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000" y="1728000"/>
            <a:ext cx="3200399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T全价  </a:t>
            </a:r>
            <a:r>
              <a:rPr sz="2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129.05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6000" y="2051999"/>
            <a:ext cx="32003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6000" y="2141999"/>
            <a:ext cx="3200399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› 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补偿入围：树差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+4.9%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000" y="2519999"/>
            <a:ext cx="3200399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› 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P50 +4.0%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/ 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P5 -10.3%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000" y="2897999"/>
            <a:ext cx="3200399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› 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传导留出检验</a:t>
            </a: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+36.9%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000" y="3383999"/>
            <a:ext cx="3200399" cy="972000"/>
          </a:xfrm>
          <a:prstGeom prst="roundRect">
            <a:avLst>
              <a:gd name="adj" fmla="val 8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4000" y="3456000"/>
            <a:ext cx="2984399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000" y="3653999"/>
            <a:ext cx="2984399" cy="6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经营现金、融资或条款任一恶化即暂停重估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54399" y="1278000"/>
            <a:ext cx="3524399" cy="32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54399" y="1278000"/>
            <a:ext cx="3524399" cy="50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298400" y="1404000"/>
            <a:ext cx="316825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#2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0400" y="1411200"/>
            <a:ext cx="1976399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莱克转债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00352" y="1414800"/>
            <a:ext cx="434447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等待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6399" y="1728000"/>
            <a:ext cx="3200399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T全价  </a:t>
            </a:r>
            <a:r>
              <a:rPr sz="2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129.81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6399" y="2051999"/>
            <a:ext cx="32003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16399" y="2141999"/>
            <a:ext cx="3200399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› 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补偿入围：树差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+2.7%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6399" y="2519999"/>
            <a:ext cx="3200399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› 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P50 +3.8%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/ 价差维持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+1.0%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6399" y="2897999"/>
            <a:ext cx="3200399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› 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开放券综合</a:t>
            </a:r>
            <a:r>
              <a:rPr sz="9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5.07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#3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16399" y="3383999"/>
            <a:ext cx="3200399" cy="972000"/>
          </a:xfrm>
          <a:prstGeom prst="roundRect">
            <a:avLst>
              <a:gd name="adj" fmla="val 8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24400" y="3456000"/>
            <a:ext cx="2984399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条件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4400" y="3653999"/>
            <a:ext cx="2984399" cy="6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毛利率</a:t>
            </a:r>
            <a:r>
              <a:rPr sz="9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≥21.0%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+ 业务资金匹配 + 动态价格通过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04799" y="1278000"/>
            <a:ext cx="3524399" cy="32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804799" y="1278000"/>
            <a:ext cx="3524399" cy="50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948799" y="1404000"/>
            <a:ext cx="316825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#3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0799" y="1411200"/>
            <a:ext cx="1976399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特纸转债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750752" y="1414800"/>
            <a:ext cx="434447" cy="208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等待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66799" y="1728000"/>
            <a:ext cx="3200399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T全价  </a:t>
            </a:r>
            <a:r>
              <a:rPr sz="21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133.52</a:t>
            </a:r>
            <a:r>
              <a:rPr sz="9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66799" y="2051999"/>
            <a:ext cx="32003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66799" y="2141999"/>
            <a:ext cx="3200399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› 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权重补位：综合分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5.61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（开放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#1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66799" y="2519999"/>
            <a:ext cx="3200399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› 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树差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-5.0%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：模型觉得贵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66799" y="2897999"/>
            <a:ext cx="3200399" cy="36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› 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P50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收敛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-7.6%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/ 维持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-2.8%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66799" y="3383999"/>
            <a:ext cx="3200399" cy="972000"/>
          </a:xfrm>
          <a:prstGeom prst="roundRect">
            <a:avLst>
              <a:gd name="adj" fmla="val 8000"/>
            </a:avLst>
          </a:prstGeom>
          <a:solidFill>
            <a:srgbClr val="FBF3F3"/>
          </a:solidFill>
          <a:ln w="1143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74799" y="3456000"/>
            <a:ext cx="2984399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条件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74799" y="3653999"/>
            <a:ext cx="2984399" cy="6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扩产现金兑现 + 融资落地 + 动态价格≤压力参考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3999" y="4662000"/>
            <a:ext cx="11185200" cy="540000"/>
          </a:xfrm>
          <a:prstGeom prst="rect">
            <a:avLst/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3999" y="4662000"/>
            <a:ext cx="43200" cy="5400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6000" y="4705199"/>
            <a:ext cx="10861200" cy="453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补偿门槛与综合分双确认；条件不满足就不买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——动态价格以届时公开信息核验，评价终点统一 </a:t>
            </a:r>
            <a:r>
              <a:rPr sz="10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2027-03-30</a:t>
            </a:r>
            <a:r>
              <a:rPr sz="10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4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总 · 合成与决策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301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B3 · 35s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回避三只：各踩死</a:t>
            </a:r>
            <a:r>
              <a:rPr sz="22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一条红线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3999" y="1015200"/>
            <a:ext cx="11185200" cy="19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不可补偿的风险 · 附改判条件</a:t>
            </a:r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3999" y="1278000"/>
            <a:ext cx="3524399" cy="32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3999" y="1278000"/>
            <a:ext cx="3524399" cy="50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6000" y="1411200"/>
            <a:ext cx="2372399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科沃转债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9952" y="1422000"/>
            <a:ext cx="434447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回避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000" y="1764000"/>
            <a:ext cx="3200399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转股溢价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286%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· 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β0.07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传不动 · 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P50 -1.7%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· 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96%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概率亏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6000" y="2736000"/>
            <a:ext cx="32003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000" y="2826000"/>
            <a:ext cx="3200399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经营最优 · </a:t>
            </a:r>
            <a:r>
              <a:rPr sz="11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价格最差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000" y="3383999"/>
            <a:ext cx="3200399" cy="9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4000" y="3456000"/>
            <a:ext cx="2984399" cy="82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改判：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价降形成补偿 或 有效下修转股价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54399" y="1278000"/>
            <a:ext cx="3524399" cy="32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54399" y="1278000"/>
            <a:ext cx="3524399" cy="50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16399" y="1411200"/>
            <a:ext cx="2372399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帝欧转债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0352" y="1422000"/>
            <a:ext cx="434447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回避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6399" y="1764000"/>
            <a:ext cx="3200399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BBB+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降级 + 回撤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-27.7%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· 现金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7.67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亿 &lt; 短借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9.43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亿 · 价差维持口径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-9.0%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6399" y="2736000"/>
            <a:ext cx="32003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16399" y="2826000"/>
            <a:ext cx="3200399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改善存在 · </a:t>
            </a:r>
            <a:r>
              <a:rPr sz="11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偿债未证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6399" y="3383999"/>
            <a:ext cx="3200399" cy="9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24400" y="3456000"/>
            <a:ext cx="2984399" cy="82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改判：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扣非持续盈利 + 融资改善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04799" y="1278000"/>
            <a:ext cx="3524399" cy="32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04799" y="1278000"/>
            <a:ext cx="3524399" cy="504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66799" y="1411200"/>
            <a:ext cx="2372399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亿田转债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750752" y="1422000"/>
            <a:ext cx="434447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回避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6799" y="1764000"/>
            <a:ext cx="3200399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全池最贵 + 回撤</a:t>
            </a:r>
            <a:r>
              <a:rPr sz="9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-37%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· 不赎回承诺仅到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2026-12-23</a:t>
            </a:r>
            <a:r>
              <a:rPr sz="9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· </a:t>
            </a:r>
            <a:r>
              <a:rPr sz="9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P5 -22.0%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66799" y="2736000"/>
            <a:ext cx="3200399" cy="5040"/>
          </a:xfrm>
          <a:prstGeom prst="rect">
            <a:avLst/>
          </a:prstGeom>
          <a:solidFill>
            <a:srgbClr val="DDD8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66799" y="2826000"/>
            <a:ext cx="3200399" cy="39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最贵还</a:t>
            </a:r>
            <a:r>
              <a:rPr sz="11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倒贴利息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66799" y="3383999"/>
            <a:ext cx="3200399" cy="9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2B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74799" y="3456000"/>
            <a:ext cx="2984399" cy="82799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9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改判：</a:t>
            </a:r>
            <a:r>
              <a:rPr sz="9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主业收入兑现 + 溢价明显回落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3999" y="4662000"/>
            <a:ext cx="11185200" cy="540000"/>
          </a:xfrm>
          <a:prstGeom prst="rect">
            <a:avLst/>
          </a:prstGeom>
          <a:solidFill>
            <a:srgbClr val="F7F5F1"/>
          </a:solidFill>
          <a:ln w="9525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3999" y="4662000"/>
            <a:ext cx="43200" cy="540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6000" y="4705199"/>
            <a:ext cx="10861200" cy="453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红线不是永远——改判条件全部公开可核验</a:t>
            </a:r>
            <a:r>
              <a:rPr sz="1050" b="0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；其余 </a:t>
            </a:r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9</a:t>
            </a:r>
            <a:r>
              <a:rPr sz="1050" b="0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 只红线券同规则处理。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5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mpus_so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26000"/>
            <a:ext cx="12192119" cy="223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3999" y="280800"/>
            <a:ext cx="5400000" cy="22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总 · 合成与决策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53011" y="273600"/>
            <a:ext cx="737438" cy="2088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Times New Roman"/>
                <a:ea typeface="微软雅黑"/>
                <a:cs typeface="Times New Roman"/>
              </a:rPr>
              <a:t>B4 · 20s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999" y="511200"/>
            <a:ext cx="10620000" cy="413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3999" y="957600"/>
            <a:ext cx="11185200" cy="16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uf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0754" y="237600"/>
            <a:ext cx="1698446" cy="34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28000" y="1206000"/>
            <a:ext cx="9936000" cy="61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门槛之内谈价格，价格之内谈条件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72059" y="1980000"/>
            <a:ext cx="2232000" cy="4680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72059" y="1980000"/>
            <a:ext cx="2232000" cy="46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四道门槛筛选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4060" y="1980000"/>
            <a:ext cx="576000" cy="46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0060" y="1980000"/>
            <a:ext cx="2232000" cy="4680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0060" y="1980000"/>
            <a:ext cx="2232000" cy="46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价格补偿排序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2060" y="1980000"/>
            <a:ext cx="576000" cy="46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88059" y="1980000"/>
            <a:ext cx="2232000" cy="468000"/>
          </a:xfrm>
          <a:prstGeom prst="roundRect">
            <a:avLst>
              <a:gd name="adj" fmla="val 8000"/>
            </a:avLst>
          </a:prstGeom>
          <a:solidFill>
            <a:srgbClr val="F7F5F1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88059" y="1980000"/>
            <a:ext cx="2232000" cy="46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条件化行动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999" y="2664000"/>
            <a:ext cx="5000400" cy="1224000"/>
          </a:xfrm>
          <a:prstGeom prst="roundRect">
            <a:avLst>
              <a:gd name="adj" fmla="val 6000"/>
            </a:avLst>
          </a:prstGeom>
          <a:solidFill>
            <a:srgbClr val="FBF3F3"/>
          </a:solidFill>
          <a:ln w="12700">
            <a:solidFill>
              <a:srgbClr val="E4B5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6000" y="2790000"/>
            <a:ext cx="46764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A1-A6 发行人研究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000" y="3078000"/>
            <a:ext cx="46764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行业 · 公司 · 财务 · 信用 · 条款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每人 </a:t>
            </a: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3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只、</a:t>
            </a: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18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个判断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88799" y="2664000"/>
            <a:ext cx="5000400" cy="12240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 w="12700">
            <a:solidFill>
              <a:srgbClr val="C3CF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0800" y="2790000"/>
            <a:ext cx="4676400" cy="251999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002060"/>
                </a:solidFill>
                <a:latin typeface="Times New Roman"/>
                <a:ea typeface="微软雅黑"/>
                <a:cs typeface="Times New Roman"/>
              </a:rPr>
              <a:t>B0-B4 数量研究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0800" y="3078000"/>
            <a:ext cx="4676400" cy="68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数据底座 · 定价 · 传导 · 路径 · 预测</a:t>
            </a:r>
          </a:p>
          <a:p>
            <a:pPr algn="l">
              <a:lnSpc>
                <a:spcPct val="140000"/>
              </a:lnSpc>
            </a:pP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44,077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条日线、</a:t>
            </a:r>
            <a:r>
              <a:rPr sz="10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10,000</a:t>
            </a:r>
            <a:r>
              <a:rPr sz="1000" b="0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条路径</a:t>
            </a:r>
          </a:p>
        </p:txBody>
      </p:sp>
      <p:sp>
        <p:nvSpPr>
          <p:cNvPr id="23" name="Oval 22"/>
          <p:cNvSpPr/>
          <p:nvPr/>
        </p:nvSpPr>
        <p:spPr>
          <a:xfrm>
            <a:off x="5529600" y="2646000"/>
            <a:ext cx="1134000" cy="1134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105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交叉验证</a:t>
            </a:r>
          </a:p>
          <a:p>
            <a:pPr algn="ctr"/>
            <a:r>
              <a:rPr sz="85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全组共同决策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3999" y="4086000"/>
            <a:ext cx="11185200" cy="28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金融分析的眼力 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×</a:t>
            </a:r>
            <a:r>
              <a:rPr sz="13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 金融工程的尺子——</a:t>
            </a:r>
            <a:r>
              <a:rPr sz="1300" b="1" i="0">
                <a:solidFill>
                  <a:srgbClr val="C00000"/>
                </a:solidFill>
                <a:latin typeface="Times New Roman"/>
                <a:ea typeface="微软雅黑"/>
                <a:cs typeface="Times New Roman"/>
              </a:rPr>
              <a:t>两条研究线，一个投资问题</a:t>
            </a:r>
            <a:r>
              <a:rPr sz="1300" b="1" i="0">
                <a:solidFill>
                  <a:srgbClr val="2B2B2B"/>
                </a:solidFill>
                <a:latin typeface="Times New Roman"/>
                <a:ea typeface="微软雅黑"/>
                <a:cs typeface="Times New Roman"/>
              </a:rPr>
              <a:t>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999" y="4464000"/>
            <a:ext cx="11185200" cy="23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github.com/group13/</a:t>
            </a:r>
            <a:r>
              <a:rPr sz="1000" b="0" i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b-quant（数据+定价+预测，一键复算</a:t>
            </a:r>
            <a:r>
              <a:rPr sz="10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）　｜　</a:t>
            </a:r>
            <a:r>
              <a:rPr sz="100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谢谢</a:t>
            </a:r>
            <a:r>
              <a:rPr sz="10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· </a:t>
            </a:r>
            <a:r>
              <a:rPr sz="100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欢迎提问</a:t>
            </a:r>
            <a:endParaRPr sz="10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3999" y="6606000"/>
            <a:ext cx="11185200" cy="180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第13组 · </a:t>
            </a:r>
            <a:r>
              <a:rPr sz="850" b="0" i="0" dirty="0" err="1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可转换债券投资分析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      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r>
              <a:rPr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 / 3</a:t>
            </a:r>
            <a:r>
              <a:rPr lang="en-US" sz="900" b="0" i="0" dirty="0">
                <a:solidFill>
                  <a:srgbClr val="6E6A61"/>
                </a:solidFill>
                <a:latin typeface="Times New Roman"/>
                <a:ea typeface="微软雅黑"/>
                <a:cs typeface="Times New Roman"/>
              </a:rPr>
              <a:t>6</a:t>
            </a:r>
            <a:endParaRPr sz="900" b="0" i="0" dirty="0">
              <a:solidFill>
                <a:srgbClr val="6E6A61"/>
              </a:solidFill>
              <a:latin typeface="Times New Roman"/>
              <a:ea typeface="微软雅黑"/>
              <a:cs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46199" y="63093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08080"/>
                </a:solidFill>
                <a:latin typeface="Noto Sans CJK SC"/>
              </a:rPr>
              <a:t>AI生成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7489</Words>
  <Application>Microsoft Office PowerPoint</Application>
  <PresentationFormat>宽屏</PresentationFormat>
  <Paragraphs>1511</Paragraphs>
  <Slides>36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2" baseType="lpstr">
      <vt:lpstr>Noto Sans CJK SC</vt:lpstr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 L</cp:lastModifiedBy>
  <cp:revision>3</cp:revision>
  <dcterms:created xsi:type="dcterms:W3CDTF">2013-01-27T09:14:16Z</dcterms:created>
  <dcterms:modified xsi:type="dcterms:W3CDTF">2026-10-04T12:02:42Z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{"Label":"1","ContentProducer":"001191110108MA01KP2T5U00000","ProduceID":"ffb6c1877aef46e05fc86ab1c3c1d5a1","ReservedCode1":"","ContentPropagator":"001191110108MA01KP2T5U00000","PropagateID":"ffb6c1877aef46e05fc86ab1c3c1d5a1","ReservedCode2":""}</vt:lpwstr>
  </property>
</Properties>
</file>